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81" r:id="rId4"/>
    <p:sldId id="258" r:id="rId5"/>
    <p:sldId id="280" r:id="rId6"/>
    <p:sldId id="271" r:id="rId7"/>
    <p:sldId id="272" r:id="rId8"/>
    <p:sldId id="273" r:id="rId9"/>
  </p:sldIdLst>
  <p:sldSz cx="12192000" cy="6858000"/>
  <p:notesSz cx="6858000" cy="9144000"/>
  <p:embeddedFontLst>
    <p:embeddedFont>
      <p:font typeface="Helvetica Neue" panose="020B0604020202020204" charset="0"/>
      <p:regular r:id="rId11"/>
      <p:bold r:id="rId12"/>
      <p:italic r:id="rId13"/>
      <p:boldItalic r:id="rId14"/>
    </p:embeddedFont>
    <p:embeddedFont>
      <p:font typeface="Helvetica Neue Ligh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gRVHjVbj1lhEoNqSSM/qroEJQ2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96526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0f4ca3a9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86" name="Google Shape;86;g3f0f4ca3a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0209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840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7505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1104FC3-35CB-9B50-891F-0747C1C6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48E327C-0BA7-6B60-5E5C-FB799E5B6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E44526B4-2925-93BF-1F89-AD2B0C1379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858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2" name="Google Shape;4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7176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9793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25" name="Google Shape;25;p2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21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31" name="Google Shape;31;p2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22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23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47" name="Google Shape;47;p2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24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52" name="Google Shape;52;p2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25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56" name="Google Shape;56;p2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26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63" name="Google Shape;63;p2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27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28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76" name="Google Shape;76;p2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29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82" name="Google Shape;82;p3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30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19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9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9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17" name="Google Shape;17;p1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zDbhfH3BV-xCZVUHmK65EgVV1HMDEYcz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0f4ca3a9d_0_0"/>
          <p:cNvSpPr txBox="1">
            <a:spLocks noGrp="1"/>
          </p:cNvSpPr>
          <p:nvPr>
            <p:ph type="title"/>
          </p:nvPr>
        </p:nvSpPr>
        <p:spPr>
          <a:xfrm>
            <a:off x="1848465" y="3534240"/>
            <a:ext cx="7914967" cy="12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Helvetica Neue"/>
              <a:buNone/>
            </a:pPr>
            <a:r>
              <a:rPr lang="en-IN" sz="2667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Student: D</a:t>
            </a: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hvanit Mahesuriya</a:t>
            </a:r>
            <a:b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(AU2440039)</a:t>
            </a:r>
            <a:b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Programme: </a:t>
            </a:r>
            <a:r>
              <a:rPr lang="en-IN" sz="2667" b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CSE</a:t>
            </a:r>
            <a:b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</a:t>
            </a:r>
            <a:r>
              <a:rPr lang="en-IN" sz="2667" b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WiFi</a:t>
            </a: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Sensing</a:t>
            </a:r>
            <a:b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13</a:t>
            </a:r>
            <a:r>
              <a:rPr lang="en-IN" sz="2667" b="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September 2026</a:t>
            </a:r>
            <a:endParaRPr sz="2667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Helvetica Neue"/>
              <a:buNone/>
            </a:pPr>
            <a:r>
              <a:rPr lang="en-IN" sz="26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650" b="0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Helvetica Neue"/>
              <a:buNone/>
            </a:pPr>
            <a:endParaRPr sz="1867" b="0" i="0" u="none" strike="noStrike" cap="none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g3f0f4ca3a9d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8453" y="679424"/>
            <a:ext cx="2884815" cy="10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f0f4ca3a9d_0_0"/>
          <p:cNvSpPr txBox="1"/>
          <p:nvPr/>
        </p:nvSpPr>
        <p:spPr>
          <a:xfrm>
            <a:off x="0" y="5946906"/>
            <a:ext cx="12192000" cy="13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933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IN" sz="1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IN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Computer Science Engineering, School of Engineering and Applied Sciences </a:t>
            </a: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g3f0f4ca3a9d_0_0"/>
          <p:cNvSpPr txBox="1"/>
          <p:nvPr/>
        </p:nvSpPr>
        <p:spPr>
          <a:xfrm>
            <a:off x="1848465" y="2703284"/>
            <a:ext cx="817060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1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ASCEND: Adaptive Self-supervised Continual Expert Network for Domain-Incremental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Sensing</a:t>
            </a:r>
          </a:p>
        </p:txBody>
      </p:sp>
      <p:sp>
        <p:nvSpPr>
          <p:cNvPr id="92" name="Google Shape;92;g3f0f4ca3a9d_0_0"/>
          <p:cNvSpPr txBox="1"/>
          <p:nvPr/>
        </p:nvSpPr>
        <p:spPr>
          <a:xfrm>
            <a:off x="2823029" y="2181447"/>
            <a:ext cx="654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ECE310 Wireless Communication</a:t>
            </a:r>
            <a:endParaRPr sz="2000" dirty="0">
              <a:solidFill>
                <a:srgbClr val="7171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287078" y="740377"/>
            <a:ext cx="5544557" cy="405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None/>
            </a:pPr>
            <a:r>
              <a:rPr lang="en-IN" b="1" u="sng" dirty="0">
                <a:solidFill>
                  <a:schemeClr val="dk2"/>
                </a:solidFill>
              </a:rPr>
              <a:t>Domain</a:t>
            </a:r>
            <a:endParaRPr lang="en-IN" dirty="0"/>
          </a:p>
          <a:p>
            <a:pPr marL="228600" lvl="0" indent="-228600">
              <a:lnSpc>
                <a:spcPct val="100000"/>
              </a:lnSpc>
              <a:spcBef>
                <a:spcPts val="700"/>
              </a:spcBef>
              <a:buSzPts val="1900"/>
              <a:buFont typeface="Arial"/>
              <a:buChar char="•"/>
            </a:pPr>
            <a:r>
              <a:rPr lang="en-IN" sz="1900" dirty="0"/>
              <a:t>Wi-Fi Sensing using CSI for Human Activity Recognition</a:t>
            </a:r>
          </a:p>
          <a:p>
            <a:pPr marL="228600" indent="-228600">
              <a:lnSpc>
                <a:spcPct val="100000"/>
              </a:lnSpc>
              <a:spcBef>
                <a:spcPts val="700"/>
              </a:spcBef>
              <a:buSzPts val="1900"/>
              <a:buFont typeface="Arial"/>
              <a:buChar char="•"/>
            </a:pPr>
            <a:r>
              <a:rPr lang="en-IN" sz="1900" dirty="0"/>
              <a:t>Continual Domain Adaptation</a:t>
            </a:r>
          </a:p>
          <a:p>
            <a:pPr marL="228600" lvl="0" indent="-228600">
              <a:lnSpc>
                <a:spcPct val="100000"/>
              </a:lnSpc>
              <a:spcBef>
                <a:spcPts val="700"/>
              </a:spcBef>
              <a:buSzPts val="1900"/>
              <a:buFont typeface="Arial"/>
              <a:buChar char="•"/>
            </a:pPr>
            <a:endParaRPr lang="en-IN" sz="1900" dirty="0"/>
          </a:p>
          <a:p>
            <a:pPr marL="0" lvl="0" indent="0">
              <a:lnSpc>
                <a:spcPct val="100000"/>
              </a:lnSpc>
              <a:spcBef>
                <a:spcPts val="700"/>
              </a:spcBef>
              <a:buClr>
                <a:schemeClr val="dk2"/>
              </a:buClr>
              <a:buNone/>
            </a:pPr>
            <a:r>
              <a:rPr lang="en-IN" b="1" u="sng" dirty="0">
                <a:solidFill>
                  <a:schemeClr val="dk2"/>
                </a:solidFill>
              </a:rPr>
              <a:t>Challenges</a:t>
            </a:r>
            <a:endParaRPr lang="en-IN" dirty="0"/>
          </a:p>
          <a:p>
            <a:pPr marL="228600" lvl="0" indent="-228600">
              <a:lnSpc>
                <a:spcPct val="100000"/>
              </a:lnSpc>
              <a:spcBef>
                <a:spcPts val="700"/>
              </a:spcBef>
              <a:buSzPts val="1900"/>
              <a:buFont typeface="Arial"/>
              <a:buChar char="•"/>
            </a:pPr>
            <a:r>
              <a:rPr lang="en-IN" sz="1900" dirty="0"/>
              <a:t>Limited Label Data</a:t>
            </a:r>
          </a:p>
          <a:p>
            <a:pPr marL="228600" lvl="0" indent="-228600">
              <a:lnSpc>
                <a:spcPct val="100000"/>
              </a:lnSpc>
              <a:spcBef>
                <a:spcPts val="700"/>
              </a:spcBef>
              <a:buSzPts val="1900"/>
              <a:buFont typeface="Arial"/>
              <a:buChar char="•"/>
            </a:pPr>
            <a:r>
              <a:rPr lang="en-IN" sz="1900" dirty="0"/>
              <a:t>Domain Incremental Learning</a:t>
            </a:r>
          </a:p>
          <a:p>
            <a:pPr marL="228600" indent="-228600">
              <a:lnSpc>
                <a:spcPct val="100000"/>
              </a:lnSpc>
              <a:spcBef>
                <a:spcPts val="700"/>
              </a:spcBef>
              <a:buSzPts val="1900"/>
              <a:buFont typeface="Arial"/>
              <a:buChar char="•"/>
            </a:pPr>
            <a:r>
              <a:rPr lang="en-IN" sz="1900" dirty="0"/>
              <a:t>Catastrophic Forgetting</a:t>
            </a:r>
            <a:endParaRPr lang="en-IN" sz="1900" b="1" dirty="0"/>
          </a:p>
        </p:txBody>
      </p:sp>
      <p:sp>
        <p:nvSpPr>
          <p:cNvPr id="2" name="Rectangle 1"/>
          <p:cNvSpPr/>
          <p:nvPr/>
        </p:nvSpPr>
        <p:spPr>
          <a:xfrm>
            <a:off x="287078" y="4960258"/>
            <a:ext cx="65168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2800"/>
            </a:pPr>
            <a:r>
              <a:rPr lang="en-US" sz="2000" dirty="0">
                <a:latin typeface="Helvetica Neue Light" panose="020B0604020202020204" charset="0"/>
              </a:rPr>
              <a:t>Can we teach a Wi-Fi sensing model to learn new environments continuously, without forgetting old ones, through Self-Supervised learning?</a:t>
            </a:r>
          </a:p>
        </p:txBody>
      </p:sp>
      <p:sp>
        <p:nvSpPr>
          <p:cNvPr id="10" name="Google Shape;325;p13"/>
          <p:cNvSpPr txBox="1"/>
          <p:nvPr/>
        </p:nvSpPr>
        <p:spPr>
          <a:xfrm>
            <a:off x="287078" y="4960257"/>
            <a:ext cx="6845299" cy="1097643"/>
          </a:xfrm>
          <a:prstGeom prst="rect">
            <a:avLst/>
          </a:prstGeom>
          <a:noFill/>
          <a:ln w="9525" cap="flat" cmpd="sng">
            <a:solidFill>
              <a:srgbClr val="801B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endParaRPr sz="1800" b="0" i="0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" name="Google Shape;97;p2"/>
          <p:cNvSpPr txBox="1">
            <a:spLocks noGrp="1"/>
          </p:cNvSpPr>
          <p:nvPr>
            <p:ph type="title"/>
          </p:nvPr>
        </p:nvSpPr>
        <p:spPr>
          <a:xfrm>
            <a:off x="287078" y="128828"/>
            <a:ext cx="1051560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Clr>
                <a:schemeClr val="dk2"/>
              </a:buClr>
            </a:pPr>
            <a:r>
              <a:rPr lang="en-US" u="sng" dirty="0">
                <a:solidFill>
                  <a:schemeClr val="bg2"/>
                </a:solidFill>
              </a:rPr>
              <a:t>Motivation &amp; the Problem Statement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B65379F-1AC3-7B12-FD5A-D74EFFC0DA7A}"/>
              </a:ext>
            </a:extLst>
          </p:cNvPr>
          <p:cNvSpPr txBox="1">
            <a:spLocks/>
          </p:cNvSpPr>
          <p:nvPr/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|</a:t>
            </a:r>
            <a:r>
              <a:rPr lang="en-US" dirty="0"/>
              <a:t>  </a:t>
            </a:r>
            <a:fld id="{4887A435-7270-5342-8E5D-300AA53C7D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32C375-F584-2FCF-3EC7-74970E6C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634" y="731967"/>
            <a:ext cx="5741780" cy="38464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E6F66B-B902-76EB-7F6F-C143C1680E83}"/>
              </a:ext>
            </a:extLst>
          </p:cNvPr>
          <p:cNvSpPr txBox="1"/>
          <p:nvPr/>
        </p:nvSpPr>
        <p:spPr>
          <a:xfrm>
            <a:off x="5600025" y="463818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Helvetica Neue Light" panose="020B0604020202020204" charset="0"/>
              </a:rPr>
              <a:t>Fig.1 Comparison of Model with and without Continual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03;p2">
            <a:extLst>
              <a:ext uri="{FF2B5EF4-FFF2-40B4-BE49-F238E27FC236}">
                <a16:creationId xmlns:a16="http://schemas.microsoft.com/office/drawing/2014/main" id="{D0F61D93-0F17-42E0-BF9D-FA0A204723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91178" y="1615448"/>
            <a:ext cx="8275348" cy="470669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16FA15-B697-6A40-40D2-C3D951058A69}"/>
              </a:ext>
            </a:extLst>
          </p:cNvPr>
          <p:cNvSpPr txBox="1"/>
          <p:nvPr/>
        </p:nvSpPr>
        <p:spPr>
          <a:xfrm>
            <a:off x="1951702" y="644012"/>
            <a:ext cx="66613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What is Wi-Fi sensing? 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86246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287078" y="128828"/>
            <a:ext cx="1051560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2"/>
              </a:buClr>
              <a:buSzPts val="4000"/>
            </a:pPr>
            <a:r>
              <a:rPr lang="en-IN" sz="4000" b="1" u="sng" dirty="0">
                <a:solidFill>
                  <a:schemeClr val="bg2"/>
                </a:solidFill>
                <a:latin typeface="Helvetica Neue "/>
              </a:rPr>
              <a:t>Literature Summary &amp; Problem Formulation</a:t>
            </a:r>
            <a:endParaRPr sz="4000" b="1" i="0" dirty="0">
              <a:solidFill>
                <a:schemeClr val="bg2"/>
              </a:solidFill>
              <a:latin typeface="Helvetica Neue 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121;p4"/>
          <p:cNvSpPr/>
          <p:nvPr/>
        </p:nvSpPr>
        <p:spPr>
          <a:xfrm>
            <a:off x="463421" y="3634064"/>
            <a:ext cx="5632579" cy="1255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</a:pPr>
            <a:r>
              <a:rPr lang="en-IN" sz="2000" b="1" i="0" u="sng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Key Observations:</a:t>
            </a:r>
            <a:endParaRPr lang="en-IN" dirty="0">
              <a:ea typeface="Helvetica Neue Light"/>
            </a:endParaRPr>
          </a:p>
          <a:p>
            <a:pPr marL="230400" marR="0" lvl="0" indent="-230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IN" sz="2000" dirty="0">
                <a:latin typeface="Helvetica Neue Light" panose="020B0604020202020204" charset="0"/>
              </a:rPr>
              <a:t>Catastrophic Forgetting is Universal</a:t>
            </a:r>
          </a:p>
          <a:p>
            <a:pPr marL="230400" indent="-23040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Helvetica Neue Light" panose="020B0604020202020204" charset="0"/>
              </a:rPr>
              <a:t>Labels are the Bottleneck</a:t>
            </a:r>
          </a:p>
        </p:txBody>
      </p:sp>
      <p:sp>
        <p:nvSpPr>
          <p:cNvPr id="16" name="Google Shape;124;p4"/>
          <p:cNvSpPr txBox="1"/>
          <p:nvPr/>
        </p:nvSpPr>
        <p:spPr>
          <a:xfrm flipH="1">
            <a:off x="5203648" y="3952353"/>
            <a:ext cx="6402197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30400" indent="-23040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Helvetica Neue Light" panose="020B0604020202020204" charset="0"/>
              </a:rPr>
              <a:t>Exemplar Storage has Privacy Risk</a:t>
            </a:r>
          </a:p>
          <a:p>
            <a:pPr marL="230400" indent="-23040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Continual learning in Domain adaptation in </a:t>
            </a:r>
            <a:r>
              <a:rPr lang="en-US" sz="2000" dirty="0" err="1">
                <a:solidFill>
                  <a:schemeClr val="dk1"/>
                </a:solidFill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Wifi</a:t>
            </a:r>
            <a:r>
              <a:rPr lang="en-US" sz="2000" dirty="0">
                <a:solidFill>
                  <a:schemeClr val="dk1"/>
                </a:solidFill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 HAR unexplored</a:t>
            </a:r>
            <a:endParaRPr sz="2000" u="sng" dirty="0">
              <a:solidFill>
                <a:schemeClr val="dk1"/>
              </a:solidFill>
              <a:latin typeface="Helvetica Neue Light" panose="020B0604020202020204" charset="0"/>
              <a:ea typeface="Helvetica Neue Light"/>
              <a:cs typeface="Helvetica Neue Light"/>
              <a:sym typeface="Helvetica Neue Light"/>
            </a:endParaRPr>
          </a:p>
          <a:p>
            <a:pPr marL="230400" marR="0" lvl="0" indent="-23040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17785" y="5630057"/>
            <a:ext cx="95308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[1</a:t>
            </a:r>
            <a:r>
              <a:rPr lang="en-US" sz="900" dirty="0">
                <a:latin typeface="Helvetica Neue Light" panose="020B0604020202020204" charset="0"/>
                <a:sym typeface="Helvetica Neue Light"/>
              </a:rPr>
              <a:t>] </a:t>
            </a:r>
            <a:r>
              <a:rPr lang="en-US" sz="900" dirty="0">
                <a:latin typeface="Helvetica Neue Light" panose="020B0604020202020204" charset="0"/>
              </a:rPr>
              <a:t>R. Li, T. Deng, S. Feng, M. Sun, and J. </a:t>
            </a:r>
            <a:r>
              <a:rPr lang="en-US" sz="900" dirty="0" err="1">
                <a:latin typeface="Helvetica Neue Light" panose="020B0604020202020204" charset="0"/>
              </a:rPr>
              <a:t>Jia</a:t>
            </a:r>
            <a:r>
              <a:rPr lang="en-US" sz="900" dirty="0">
                <a:latin typeface="Helvetica Neue Light" panose="020B0604020202020204" charset="0"/>
              </a:rPr>
              <a:t>, "</a:t>
            </a:r>
            <a:r>
              <a:rPr lang="en-US" sz="900" dirty="0" err="1">
                <a:latin typeface="Helvetica Neue Light" panose="020B0604020202020204" charset="0"/>
              </a:rPr>
              <a:t>ConSense</a:t>
            </a:r>
            <a:r>
              <a:rPr lang="en-US" sz="900" dirty="0">
                <a:latin typeface="Helvetica Neue Light" panose="020B0604020202020204" charset="0"/>
              </a:rPr>
              <a:t>: Continually sensing human activity with </a:t>
            </a:r>
            <a:r>
              <a:rPr lang="en-US" sz="900" dirty="0" err="1">
                <a:latin typeface="Helvetica Neue Light" panose="020B0604020202020204" charset="0"/>
              </a:rPr>
              <a:t>WiFi</a:t>
            </a:r>
            <a:r>
              <a:rPr lang="en-US" sz="900" dirty="0">
                <a:latin typeface="Helvetica Neue Light" panose="020B0604020202020204" charset="0"/>
              </a:rPr>
              <a:t> via growing and picking," in </a:t>
            </a:r>
            <a:r>
              <a:rPr lang="en-US" sz="900" i="1" dirty="0">
                <a:latin typeface="Helvetica Neue Light" panose="020B0604020202020204" charset="0"/>
              </a:rPr>
              <a:t>Proc. AAAI Conf. </a:t>
            </a:r>
            <a:r>
              <a:rPr lang="en-US" sz="900" i="1" dirty="0" err="1">
                <a:latin typeface="Helvetica Neue Light" panose="020B0604020202020204" charset="0"/>
              </a:rPr>
              <a:t>Artif</a:t>
            </a:r>
            <a:r>
              <a:rPr lang="en-US" sz="900" i="1" dirty="0">
                <a:latin typeface="Helvetica Neue Light" panose="020B0604020202020204" charset="0"/>
              </a:rPr>
              <a:t>. </a:t>
            </a:r>
            <a:r>
              <a:rPr lang="en-US" sz="900" i="1" dirty="0" err="1">
                <a:latin typeface="Helvetica Neue Light" panose="020B0604020202020204" charset="0"/>
              </a:rPr>
              <a:t>Intell</a:t>
            </a:r>
            <a:r>
              <a:rPr lang="en-US" sz="900" i="1" dirty="0">
                <a:latin typeface="Helvetica Neue Light" panose="020B0604020202020204" charset="0"/>
              </a:rPr>
              <a:t>.</a:t>
            </a:r>
            <a:r>
              <a:rPr lang="en-US" sz="900" dirty="0">
                <a:latin typeface="Helvetica Neue Light" panose="020B0604020202020204" charset="0"/>
              </a:rPr>
              <a:t>, vol. 39, no. 22, 2025, pp. 14292–14300.</a:t>
            </a:r>
          </a:p>
          <a:p>
            <a:r>
              <a:rPr lang="en-IN" sz="900" dirty="0">
                <a:solidFill>
                  <a:schemeClr val="dk1"/>
                </a:solidFill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[2] C. Tang, P. Tang, H. Zhang, J. </a:t>
            </a:r>
            <a:r>
              <a:rPr lang="en-IN" sz="900" dirty="0" err="1">
                <a:solidFill>
                  <a:schemeClr val="dk1"/>
                </a:solidFill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Jin</a:t>
            </a:r>
            <a:r>
              <a:rPr lang="en-IN" sz="900" dirty="0">
                <a:solidFill>
                  <a:schemeClr val="dk1"/>
                </a:solidFill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 and S. Mao, "Wi-DMAR: Cross-Domain Human Activity Recognition via an Enhanced Conditional Diffusion Model," in IEEE Internet of Things Journal, vol. 13, no. 11, pp. 25343-25353, 1 June1, 2026, </a:t>
            </a:r>
            <a:r>
              <a:rPr lang="en-IN" sz="900" dirty="0" err="1">
                <a:solidFill>
                  <a:schemeClr val="dk1"/>
                </a:solidFill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doi</a:t>
            </a:r>
            <a:r>
              <a:rPr lang="en-IN" sz="900" dirty="0">
                <a:solidFill>
                  <a:schemeClr val="dk1"/>
                </a:solidFill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: 10.1109/JIOT.2026.3676817.</a:t>
            </a:r>
            <a:endParaRPr lang="en-IN" sz="900" dirty="0">
              <a:solidFill>
                <a:schemeClr val="dk1"/>
              </a:solidFill>
              <a:latin typeface="Helvetica Neue Light" panose="020B0604020202020204" charset="0"/>
              <a:ea typeface="Helvetica Neue Light"/>
              <a:cs typeface="Helvetica Neue Light"/>
              <a:sym typeface="Helvetica Neue Light"/>
            </a:endParaRPr>
          </a:p>
          <a:p>
            <a:pPr lvl="0"/>
            <a:r>
              <a:rPr lang="en-IN" sz="900" dirty="0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[3] G. Liu, Y. </a:t>
            </a:r>
            <a:r>
              <a:rPr lang="en-IN" sz="900" dirty="0" err="1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Hao</a:t>
            </a:r>
            <a:r>
              <a:rPr lang="en-IN" sz="900" dirty="0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 and Y. Zou, "CIG-MAE: Cross-Modal Information-Guided Masked </a:t>
            </a:r>
            <a:r>
              <a:rPr lang="en-IN" sz="900" dirty="0" err="1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Autoencoder</a:t>
            </a:r>
            <a:r>
              <a:rPr lang="en-IN" sz="900" dirty="0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 for Self-Supervised </a:t>
            </a:r>
            <a:r>
              <a:rPr lang="en-IN" sz="900" dirty="0" err="1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WiFi</a:t>
            </a:r>
            <a:r>
              <a:rPr lang="en-IN" sz="900" dirty="0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 Sensing," in IEEE Internet of Things Journal, </a:t>
            </a:r>
            <a:r>
              <a:rPr lang="en-IN" sz="900" dirty="0" err="1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doi</a:t>
            </a:r>
            <a:r>
              <a:rPr lang="en-IN" sz="900" dirty="0">
                <a:latin typeface="Helvetica Neue Light" panose="020B0604020202020204" charset="0"/>
                <a:ea typeface="Helvetica Neue Light"/>
                <a:cs typeface="Helvetica Neue Light"/>
                <a:sym typeface="Helvetica Neue Light"/>
              </a:rPr>
              <a:t>: 10.1109/JIOT.2026.3696504.</a:t>
            </a:r>
            <a:endParaRPr lang="en-IN" sz="900" dirty="0">
              <a:solidFill>
                <a:schemeClr val="dk1"/>
              </a:solidFill>
              <a:latin typeface="Helvetica Neue Light" panose="020B0604020202020204" charset="0"/>
              <a:ea typeface="Helvetica Neue Light"/>
              <a:cs typeface="Helvetica Neue Light"/>
              <a:sym typeface="Helvetica Neue Light"/>
            </a:endParaRPr>
          </a:p>
          <a:p>
            <a:r>
              <a:rPr lang="en-US" sz="900" dirty="0">
                <a:latin typeface="Helvetica Neue Light" panose="020B0604020202020204" charset="0"/>
              </a:rPr>
              <a:t>[4] W. Zheng, Y. Mao, and I. W. H. Ho, "Scene-adaptive continual learning for CSI-based human activity recognition with mixture of experts," </a:t>
            </a:r>
            <a:r>
              <a:rPr lang="en-US" sz="900" i="1" dirty="0" err="1">
                <a:latin typeface="Helvetica Neue Light" panose="020B0604020202020204" charset="0"/>
              </a:rPr>
              <a:t>arXiv</a:t>
            </a:r>
            <a:r>
              <a:rPr lang="en-US" sz="900" i="1" dirty="0">
                <a:latin typeface="Helvetica Neue Light" panose="020B0604020202020204" charset="0"/>
              </a:rPr>
              <a:t> preprint arXiv:2605.06447</a:t>
            </a:r>
            <a:r>
              <a:rPr lang="en-US" sz="900" dirty="0">
                <a:latin typeface="Helvetica Neue Light" panose="020B0604020202020204" charset="0"/>
              </a:rPr>
              <a:t>, 2026.</a:t>
            </a:r>
          </a:p>
          <a:p>
            <a:pPr lvl="0"/>
            <a:endParaRPr lang="en-US" sz="900" dirty="0">
              <a:latin typeface="Helvetica Neue Light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55189-5737-4BD7-ED91-A8FB3D309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092" y="721013"/>
            <a:ext cx="7329571" cy="2255252"/>
          </a:xfrm>
          <a:prstGeom prst="rect">
            <a:avLst/>
          </a:prstGeom>
        </p:spPr>
      </p:pic>
      <p:sp>
        <p:nvSpPr>
          <p:cNvPr id="7" name="Google Shape;125;p4">
            <a:extLst>
              <a:ext uri="{FF2B5EF4-FFF2-40B4-BE49-F238E27FC236}">
                <a16:creationId xmlns:a16="http://schemas.microsoft.com/office/drawing/2014/main" id="{0EC657A0-307B-8F98-3163-176812F3CE38}"/>
              </a:ext>
            </a:extLst>
          </p:cNvPr>
          <p:cNvSpPr txBox="1"/>
          <p:nvPr/>
        </p:nvSpPr>
        <p:spPr>
          <a:xfrm>
            <a:off x="3155618" y="1273140"/>
            <a:ext cx="4427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dk1"/>
                </a:solidFill>
                <a:latin typeface="Helvetica Neue Light" panose="020B0604020202020204" charset="0"/>
                <a:ea typeface="Calibri"/>
                <a:cs typeface="Calibri"/>
                <a:sym typeface="Calibri"/>
              </a:rPr>
              <a:t>[2]</a:t>
            </a:r>
            <a:endParaRPr sz="1800" b="1" dirty="0">
              <a:solidFill>
                <a:schemeClr val="dk1"/>
              </a:solidFill>
              <a:latin typeface="Helvetica Neue Ligh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6;p4">
            <a:extLst>
              <a:ext uri="{FF2B5EF4-FFF2-40B4-BE49-F238E27FC236}">
                <a16:creationId xmlns:a16="http://schemas.microsoft.com/office/drawing/2014/main" id="{377C3B48-2532-33CC-711B-8E82AD2BD1CA}"/>
              </a:ext>
            </a:extLst>
          </p:cNvPr>
          <p:cNvSpPr txBox="1"/>
          <p:nvPr/>
        </p:nvSpPr>
        <p:spPr>
          <a:xfrm>
            <a:off x="3155618" y="1594735"/>
            <a:ext cx="4427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dk1"/>
                </a:solidFill>
                <a:latin typeface="Helvetica Neue Light" panose="020B0604020202020204" charset="0"/>
                <a:ea typeface="Calibri"/>
                <a:cs typeface="Calibri"/>
                <a:sym typeface="Calibri"/>
              </a:rPr>
              <a:t>[3]</a:t>
            </a:r>
            <a:endParaRPr sz="1800" b="1" dirty="0">
              <a:solidFill>
                <a:schemeClr val="dk1"/>
              </a:solidFill>
              <a:latin typeface="Helvetica Neue Ligh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27;p4">
            <a:extLst>
              <a:ext uri="{FF2B5EF4-FFF2-40B4-BE49-F238E27FC236}">
                <a16:creationId xmlns:a16="http://schemas.microsoft.com/office/drawing/2014/main" id="{E89D7D7D-8AB1-22F8-664E-4893284EA2F4}"/>
              </a:ext>
            </a:extLst>
          </p:cNvPr>
          <p:cNvSpPr txBox="1"/>
          <p:nvPr/>
        </p:nvSpPr>
        <p:spPr>
          <a:xfrm>
            <a:off x="3155618" y="1912345"/>
            <a:ext cx="4427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dk1"/>
                </a:solidFill>
                <a:latin typeface="Helvetica Neue Light" panose="020B0604020202020204" charset="0"/>
                <a:ea typeface="Calibri"/>
                <a:cs typeface="Calibri"/>
                <a:sym typeface="Calibri"/>
              </a:rPr>
              <a:t>[1]</a:t>
            </a:r>
            <a:endParaRPr sz="1800" b="1" dirty="0">
              <a:solidFill>
                <a:schemeClr val="dk1"/>
              </a:solidFill>
              <a:latin typeface="Helvetica Neue Ligh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28;p4">
            <a:extLst>
              <a:ext uri="{FF2B5EF4-FFF2-40B4-BE49-F238E27FC236}">
                <a16:creationId xmlns:a16="http://schemas.microsoft.com/office/drawing/2014/main" id="{BC0E009C-498C-0579-583C-4866B8F976C9}"/>
              </a:ext>
            </a:extLst>
          </p:cNvPr>
          <p:cNvSpPr txBox="1"/>
          <p:nvPr/>
        </p:nvSpPr>
        <p:spPr>
          <a:xfrm>
            <a:off x="3155618" y="2198622"/>
            <a:ext cx="4427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dk1"/>
                </a:solidFill>
                <a:latin typeface="Helvetica Neue Light" panose="020B0604020202020204" charset="0"/>
                <a:ea typeface="Calibri"/>
                <a:cs typeface="Calibri"/>
                <a:sym typeface="Calibri"/>
              </a:rPr>
              <a:t>[4]</a:t>
            </a:r>
            <a:endParaRPr sz="1800" b="1" dirty="0">
              <a:solidFill>
                <a:schemeClr val="dk1"/>
              </a:solidFill>
              <a:latin typeface="Helvetica Neue Ligh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CC57A249-1F4F-F1E1-8F47-068C18770214}"/>
              </a:ext>
            </a:extLst>
          </p:cNvPr>
          <p:cNvSpPr txBox="1">
            <a:spLocks/>
          </p:cNvSpPr>
          <p:nvPr/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|</a:t>
            </a:r>
            <a:r>
              <a:rPr lang="en-US" dirty="0"/>
              <a:t>  </a:t>
            </a:r>
            <a:fld id="{4887A435-7270-5342-8E5D-300AA53C7D91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800AC40-40C9-E22C-410F-D3C61D5A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7226E9A5-2415-BEFD-AB74-6F5A33AEE835}"/>
              </a:ext>
            </a:extLst>
          </p:cNvPr>
          <p:cNvSpPr txBox="1"/>
          <p:nvPr/>
        </p:nvSpPr>
        <p:spPr>
          <a:xfrm>
            <a:off x="267413" y="0"/>
            <a:ext cx="1051560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2"/>
              </a:buClr>
              <a:buSzPts val="4000"/>
            </a:pPr>
            <a:r>
              <a:rPr lang="en-IN" sz="4000" b="1" u="sng" dirty="0">
                <a:solidFill>
                  <a:schemeClr val="bg2"/>
                </a:solidFill>
                <a:latin typeface="Helvetica Neue "/>
              </a:rPr>
              <a:t>Understanding </a:t>
            </a:r>
            <a:r>
              <a:rPr lang="en-IN" sz="4000" b="1" u="sng" dirty="0" err="1">
                <a:solidFill>
                  <a:schemeClr val="bg2"/>
                </a:solidFill>
                <a:latin typeface="Helvetica Neue "/>
              </a:rPr>
              <a:t>MoE</a:t>
            </a:r>
            <a:endParaRPr sz="4000" b="1" i="0" dirty="0">
              <a:solidFill>
                <a:schemeClr val="bg2"/>
              </a:solidFill>
              <a:latin typeface="Helvetica Neue 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227C39-971D-A6A0-3763-1E1F2AB1C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471" y="661665"/>
            <a:ext cx="8151058" cy="5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2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"/>
          <p:cNvSpPr txBox="1">
            <a:spLocks noGrp="1"/>
          </p:cNvSpPr>
          <p:nvPr>
            <p:ph type="body" idx="1"/>
          </p:nvPr>
        </p:nvSpPr>
        <p:spPr>
          <a:xfrm>
            <a:off x="690143" y="987860"/>
            <a:ext cx="10331819" cy="384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 u="sng" dirty="0"/>
              <a:t>Tentative Paper Title:</a:t>
            </a:r>
            <a:r>
              <a:rPr lang="en-IN" sz="2000" b="1" dirty="0"/>
              <a:t>	</a:t>
            </a:r>
            <a:endParaRPr dirty="0"/>
          </a:p>
          <a:p>
            <a:pPr marL="457200" lvl="1" indent="0">
              <a:buNone/>
            </a:pPr>
            <a:r>
              <a:rPr lang="en-US" sz="1800" dirty="0">
                <a:solidFill>
                  <a:schemeClr val="tx1"/>
                </a:solidFill>
                <a:latin typeface="Helvetica Neue" panose="020B0604020202020204" charset="0"/>
                <a:cs typeface="Times New Roman" panose="02020603050405020304" pitchFamily="18" charset="0"/>
              </a:rPr>
              <a:t>ASCEND: Adaptive Self-supervised Continual Expert Network for Domain-Incremental </a:t>
            </a:r>
            <a:r>
              <a:rPr lang="en-US" sz="1800" dirty="0" err="1">
                <a:solidFill>
                  <a:schemeClr val="tx1"/>
                </a:solidFill>
                <a:latin typeface="Helvetica Neue" panose="020B0604020202020204" charset="0"/>
                <a:cs typeface="Times New Roman" panose="02020603050405020304" pitchFamily="18" charset="0"/>
              </a:rPr>
              <a:t>Wifi</a:t>
            </a:r>
            <a:r>
              <a:rPr lang="en-US" sz="1800" dirty="0">
                <a:solidFill>
                  <a:schemeClr val="tx1"/>
                </a:solidFill>
                <a:latin typeface="Helvetica Neue" panose="020B0604020202020204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chemeClr val="tx1"/>
                </a:solidFill>
                <a:latin typeface="Helvetica Neue" panose="020B0604020202020204" charset="0"/>
                <a:cs typeface="Times New Roman" panose="02020603050405020304" pitchFamily="18" charset="0"/>
              </a:rPr>
              <a:t>Sensing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u="sng" dirty="0"/>
              <a:t>Timeline: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IN" sz="1800" b="1" dirty="0"/>
              <a:t>Phase 1 (Week 1-3):</a:t>
            </a:r>
            <a:endParaRPr sz="1800"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US" dirty="0"/>
              <a:t>Understanding Domain</a:t>
            </a:r>
          </a:p>
          <a:p>
            <a:pPr marL="914400" lvl="2" indent="0">
              <a:buNone/>
            </a:pPr>
            <a:r>
              <a:rPr lang="en-US" dirty="0"/>
              <a:t>Finding Problem Formulation</a:t>
            </a:r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US" dirty="0"/>
              <a:t>Critically understand related recent literature regarding that problem</a:t>
            </a: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IN" sz="1800" b="1" dirty="0"/>
              <a:t>Phase 2 (Week 4-6):</a:t>
            </a:r>
            <a:endParaRPr sz="1800"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US" dirty="0"/>
              <a:t>Reproducing Baselines</a:t>
            </a:r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US" dirty="0"/>
              <a:t>Understanding possible KPIs</a:t>
            </a:r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US" dirty="0"/>
              <a:t>Starting Coding for ASCEND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IN" sz="1800" b="1" dirty="0"/>
              <a:t>Phase 3 (Week 7-9):</a:t>
            </a:r>
            <a:endParaRPr sz="1800"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IN" dirty="0"/>
              <a:t>Running Experiments and Generating Relevant KPIs</a:t>
            </a:r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r>
              <a:rPr lang="en-IN" dirty="0"/>
              <a:t>Hyperparameter Sweeping</a:t>
            </a:r>
          </a:p>
          <a:p>
            <a:pPr marL="457200" lvl="1" indent="0">
              <a:buSzPts val="1800"/>
              <a:buNone/>
            </a:pPr>
            <a:r>
              <a:rPr lang="en-US" sz="1800" b="1" dirty="0"/>
              <a:t>Phase 4 (Week 10):</a:t>
            </a:r>
            <a:endParaRPr lang="en-US" sz="1800" dirty="0"/>
          </a:p>
          <a:p>
            <a:pPr marL="914400" lvl="2" indent="0">
              <a:buNone/>
            </a:pPr>
            <a:r>
              <a:rPr lang="en-US" dirty="0"/>
              <a:t>Submitting final paper with final presentation</a:t>
            </a:r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endParaRPr lang="en-IN"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endParaRPr lang="en-IN" dirty="0"/>
          </a:p>
        </p:txBody>
      </p:sp>
      <p:sp>
        <p:nvSpPr>
          <p:cNvPr id="405" name="Google Shape;405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/>
              <a:t>|</a:t>
            </a:r>
            <a:r>
              <a:rPr lang="en-IN"/>
              <a:t>  </a:t>
            </a: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406" name="Google Shape;406;p16"/>
          <p:cNvSpPr txBox="1"/>
          <p:nvPr/>
        </p:nvSpPr>
        <p:spPr>
          <a:xfrm>
            <a:off x="287078" y="140500"/>
            <a:ext cx="1051560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Helvetica Neue"/>
              <a:buNone/>
            </a:pPr>
            <a:r>
              <a:rPr lang="en-IN" sz="4000" b="1" i="0" u="sng" dirty="0">
                <a:solidFill>
                  <a:schemeClr val="bg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Publication Roadmap and Next Milestones</a:t>
            </a:r>
            <a:endParaRPr sz="4000" b="1" i="0" u="sng" dirty="0">
              <a:solidFill>
                <a:schemeClr val="bg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"/>
          <p:cNvSpPr txBox="1">
            <a:spLocks noGrp="1"/>
          </p:cNvSpPr>
          <p:nvPr>
            <p:ph type="body" idx="1"/>
          </p:nvPr>
        </p:nvSpPr>
        <p:spPr>
          <a:xfrm>
            <a:off x="562638" y="1078031"/>
            <a:ext cx="10515600" cy="494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buSzPct val="100000"/>
              <a:buNone/>
            </a:pPr>
            <a:r>
              <a:rPr lang="en-IN" sz="1600" dirty="0">
                <a:sym typeface="Helvetica Neue Light"/>
              </a:rPr>
              <a:t>[1</a:t>
            </a:r>
            <a:r>
              <a:rPr lang="en-IN" sz="1600" dirty="0">
                <a:latin typeface="Helvetica Neue Light" panose="020B0604020202020204" charset="0"/>
                <a:sym typeface="Helvetica Neue Light"/>
              </a:rPr>
              <a:t>] </a:t>
            </a:r>
            <a:r>
              <a:rPr lang="en-US" sz="1600" dirty="0">
                <a:latin typeface="Helvetica Neue Light" panose="020B0604020202020204" charset="0"/>
              </a:rPr>
              <a:t>R. Li, T. Deng, S. Feng, M. Sun, and J. </a:t>
            </a:r>
            <a:r>
              <a:rPr lang="en-US" sz="1600" dirty="0" err="1">
                <a:latin typeface="Helvetica Neue Light" panose="020B0604020202020204" charset="0"/>
              </a:rPr>
              <a:t>Jia</a:t>
            </a:r>
            <a:r>
              <a:rPr lang="en-US" sz="1600" dirty="0">
                <a:latin typeface="Helvetica Neue Light" panose="020B0604020202020204" charset="0"/>
              </a:rPr>
              <a:t>, "</a:t>
            </a:r>
            <a:r>
              <a:rPr lang="en-US" sz="1600" dirty="0" err="1">
                <a:latin typeface="Helvetica Neue Light" panose="020B0604020202020204" charset="0"/>
              </a:rPr>
              <a:t>ConSense</a:t>
            </a:r>
            <a:r>
              <a:rPr lang="en-US" sz="1600" dirty="0">
                <a:latin typeface="Helvetica Neue Light" panose="020B0604020202020204" charset="0"/>
              </a:rPr>
              <a:t>: Continually sensing human activity with </a:t>
            </a:r>
            <a:r>
              <a:rPr lang="en-US" sz="1600" dirty="0" err="1">
                <a:latin typeface="Helvetica Neue Light" panose="020B0604020202020204" charset="0"/>
              </a:rPr>
              <a:t>WiFi</a:t>
            </a:r>
            <a:r>
              <a:rPr lang="en-US" sz="1600" dirty="0">
                <a:latin typeface="Helvetica Neue Light" panose="020B0604020202020204" charset="0"/>
              </a:rPr>
              <a:t> via growing and picking," in </a:t>
            </a:r>
            <a:r>
              <a:rPr lang="en-US" sz="1600" i="1" dirty="0">
                <a:latin typeface="Helvetica Neue Light" panose="020B0604020202020204" charset="0"/>
              </a:rPr>
              <a:t>Proc. AAAI Conf. </a:t>
            </a:r>
            <a:r>
              <a:rPr lang="en-US" sz="1600" i="1" dirty="0" err="1">
                <a:latin typeface="Helvetica Neue Light" panose="020B0604020202020204" charset="0"/>
              </a:rPr>
              <a:t>Artif</a:t>
            </a:r>
            <a:r>
              <a:rPr lang="en-US" sz="1600" i="1" dirty="0">
                <a:latin typeface="Helvetica Neue Light" panose="020B0604020202020204" charset="0"/>
              </a:rPr>
              <a:t>. </a:t>
            </a:r>
            <a:r>
              <a:rPr lang="en-US" sz="1600" i="1" dirty="0" err="1">
                <a:latin typeface="Helvetica Neue Light" panose="020B0604020202020204" charset="0"/>
              </a:rPr>
              <a:t>Intell</a:t>
            </a:r>
            <a:r>
              <a:rPr lang="en-US" sz="1600" i="1" dirty="0">
                <a:latin typeface="Helvetica Neue Light" panose="020B0604020202020204" charset="0"/>
              </a:rPr>
              <a:t>.</a:t>
            </a:r>
            <a:r>
              <a:rPr lang="en-US" sz="1600" dirty="0">
                <a:latin typeface="Helvetica Neue Light" panose="020B0604020202020204" charset="0"/>
              </a:rPr>
              <a:t>, vol. 39, no. 22, 2025, pp. 14292–14300.</a:t>
            </a:r>
          </a:p>
          <a:p>
            <a:pPr marL="0" lvl="0" indent="0">
              <a:lnSpc>
                <a:spcPct val="100000"/>
              </a:lnSpc>
              <a:buSzPct val="100000"/>
              <a:buNone/>
            </a:pPr>
            <a:r>
              <a:rPr lang="en-IN" sz="1600" dirty="0"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[2] C. Tang, P. Tang, H. Zhang, J. </a:t>
            </a:r>
            <a:r>
              <a:rPr lang="en-IN" sz="1600" dirty="0" err="1"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Jin</a:t>
            </a:r>
            <a:r>
              <a:rPr lang="en-IN" sz="1600" dirty="0"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 and S. Mao, "Wi-DMAR: Cross-Domain Human Activity Recognition via an Enhanced Conditional Diffusion Model," in IEEE Internet of Things Journal, vol. 13, no. 11, pp. 25343-25353, 1 June1, 2026, </a:t>
            </a:r>
            <a:r>
              <a:rPr lang="en-IN" sz="1600" dirty="0" err="1"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doi</a:t>
            </a:r>
            <a:r>
              <a:rPr lang="en-IN" sz="1600" dirty="0">
                <a:latin typeface="Helvetica Neue Light" panose="020B0604020202020204" charset="0"/>
                <a:ea typeface="Helvetica Neue"/>
                <a:cs typeface="Helvetica Neue"/>
                <a:sym typeface="Helvetica Neue"/>
              </a:rPr>
              <a:t>: 10.1109/JIOT.2026.3676817.</a:t>
            </a:r>
            <a:endParaRPr lang="en-IN" sz="1600" dirty="0">
              <a:latin typeface="Helvetica Neue Light" panose="020B0604020202020204" charset="0"/>
              <a:ea typeface="Helvetica Neue"/>
              <a:cs typeface="Helvetica Neue"/>
            </a:endParaRPr>
          </a:p>
          <a:p>
            <a:pPr marL="0" lvl="0" indent="0">
              <a:lnSpc>
                <a:spcPct val="100000"/>
              </a:lnSpc>
              <a:buSzPct val="100000"/>
              <a:buNone/>
            </a:pPr>
            <a:r>
              <a:rPr lang="en-IN" sz="1600" dirty="0">
                <a:latin typeface="Helvetica Neue Light" panose="020B0604020202020204" charset="0"/>
              </a:rPr>
              <a:t>[3] G. Liu, Y. </a:t>
            </a:r>
            <a:r>
              <a:rPr lang="en-IN" sz="1600" dirty="0" err="1">
                <a:latin typeface="Helvetica Neue Light" panose="020B0604020202020204" charset="0"/>
              </a:rPr>
              <a:t>Hao</a:t>
            </a:r>
            <a:r>
              <a:rPr lang="en-IN" sz="1600" dirty="0">
                <a:latin typeface="Helvetica Neue Light" panose="020B0604020202020204" charset="0"/>
              </a:rPr>
              <a:t> and Y. Zou, "CIG-MAE: Cross-Modal Information-Guided Masked </a:t>
            </a:r>
            <a:r>
              <a:rPr lang="en-IN" sz="1600" dirty="0" err="1">
                <a:latin typeface="Helvetica Neue Light" panose="020B0604020202020204" charset="0"/>
              </a:rPr>
              <a:t>Autoencoder</a:t>
            </a:r>
            <a:r>
              <a:rPr lang="en-IN" sz="1600" dirty="0">
                <a:latin typeface="Helvetica Neue Light" panose="020B0604020202020204" charset="0"/>
              </a:rPr>
              <a:t> for Self-Supervised </a:t>
            </a:r>
            <a:r>
              <a:rPr lang="en-IN" sz="1600" dirty="0" err="1">
                <a:latin typeface="Helvetica Neue Light" panose="020B0604020202020204" charset="0"/>
              </a:rPr>
              <a:t>WiFi</a:t>
            </a:r>
            <a:r>
              <a:rPr lang="en-IN" sz="1600" dirty="0">
                <a:latin typeface="Helvetica Neue Light" panose="020B0604020202020204" charset="0"/>
              </a:rPr>
              <a:t> Sensing," in IEEE Internet of Things Journal, </a:t>
            </a:r>
            <a:r>
              <a:rPr lang="en-IN" sz="1600" dirty="0" err="1">
                <a:latin typeface="Helvetica Neue Light" panose="020B0604020202020204" charset="0"/>
              </a:rPr>
              <a:t>doi</a:t>
            </a:r>
            <a:r>
              <a:rPr lang="en-IN" sz="1600" dirty="0">
                <a:latin typeface="Helvetica Neue Light" panose="020B0604020202020204" charset="0"/>
              </a:rPr>
              <a:t>: 10.1109/JIOT.2026.3696504.</a:t>
            </a:r>
          </a:p>
          <a:p>
            <a:pPr marL="0" lvl="0" indent="0">
              <a:lnSpc>
                <a:spcPct val="100000"/>
              </a:lnSpc>
              <a:buSzPct val="100000"/>
              <a:buNone/>
            </a:pPr>
            <a:r>
              <a:rPr lang="en-US" sz="1600" dirty="0">
                <a:latin typeface="Helvetica Neue Light" panose="020B0604020202020204" charset="0"/>
              </a:rPr>
              <a:t>[4] W. Zheng, Y. Mao, and I. W. H. Ho, "Scene-adaptive continual learning for CSI-based human activity recognition with mixture of experts," </a:t>
            </a:r>
            <a:r>
              <a:rPr lang="en-US" sz="1600" i="1" dirty="0" err="1">
                <a:latin typeface="Helvetica Neue Light" panose="020B0604020202020204" charset="0"/>
              </a:rPr>
              <a:t>arXiv</a:t>
            </a:r>
            <a:r>
              <a:rPr lang="en-US" sz="1600" i="1" dirty="0">
                <a:latin typeface="Helvetica Neue Light" panose="020B0604020202020204" charset="0"/>
              </a:rPr>
              <a:t> preprint arXiv:2605.06447</a:t>
            </a:r>
            <a:r>
              <a:rPr lang="en-US" sz="1600" dirty="0">
                <a:latin typeface="Helvetica Neue Light" panose="020B0604020202020204" charset="0"/>
              </a:rPr>
              <a:t>, 2026.</a:t>
            </a:r>
          </a:p>
          <a:p>
            <a:pPr marL="0" lvl="0" indent="0">
              <a:lnSpc>
                <a:spcPct val="100000"/>
              </a:lnSpc>
              <a:buSzPct val="100000"/>
              <a:buNone/>
            </a:pPr>
            <a:r>
              <a:rPr lang="en-US" sz="1600" dirty="0">
                <a:latin typeface="Helvetica Neue Light" panose="020B0604020202020204" charset="0"/>
              </a:rPr>
              <a:t>[5</a:t>
            </a:r>
            <a:r>
              <a:rPr lang="en-IN" sz="1600" dirty="0">
                <a:latin typeface="Helvetica Neue Light" panose="020B0604020202020204" charset="0"/>
              </a:rPr>
              <a:t>] “</a:t>
            </a:r>
            <a:r>
              <a:rPr lang="en-IN" sz="1600" dirty="0" err="1">
                <a:latin typeface="Helvetica Neue Light" panose="020B0604020202020204" charset="0"/>
              </a:rPr>
              <a:t>MMFi</a:t>
            </a:r>
            <a:r>
              <a:rPr lang="en-IN" sz="1600" dirty="0">
                <a:latin typeface="Helvetica Neue Light" panose="020B0604020202020204" charset="0"/>
              </a:rPr>
              <a:t> Dataset,” Google Drive. [Online]. Available: </a:t>
            </a:r>
            <a:r>
              <a:rPr lang="en-IN" sz="1600" dirty="0">
                <a:latin typeface="Helvetica Neue Light" panose="020B0604020202020204" charset="0"/>
                <a:hlinkClick r:id="rId3"/>
              </a:rPr>
              <a:t>https://drive.google.com/drive/folders/1zDbhfH3BV-xCZVUHmK65EgVV1HMDEYcz</a:t>
            </a:r>
            <a:r>
              <a:rPr lang="en-IN" sz="1600" dirty="0">
                <a:latin typeface="Helvetica Neue Light" panose="020B0604020202020204" charset="0"/>
              </a:rPr>
              <a:t>.</a:t>
            </a:r>
          </a:p>
          <a:p>
            <a:pPr marL="0" indent="0">
              <a:lnSpc>
                <a:spcPct val="100000"/>
              </a:lnSpc>
              <a:buSzPct val="100000"/>
              <a:buNone/>
            </a:pPr>
            <a:r>
              <a:rPr lang="en-IN" sz="1600" dirty="0">
                <a:latin typeface="Helvetica Neue Light" panose="020B0604020202020204" charset="0"/>
              </a:rPr>
              <a:t>[6] </a:t>
            </a:r>
            <a:r>
              <a:rPr lang="en-IN" sz="1600" dirty="0"/>
              <a:t>A. Nigam, “IIT Mandi Deep Learning Course,” YouTube playlist. [Online]. Available: https://youtube.com/playlist?list=PLKvX2d3IUq586Ic9gIhZj6ubpWV-OJfl4. [Accessed: Jul. 12, 2026].</a:t>
            </a:r>
          </a:p>
          <a:p>
            <a:pPr marL="0" indent="0">
              <a:lnSpc>
                <a:spcPct val="100000"/>
              </a:lnSpc>
              <a:buSzPct val="100000"/>
              <a:buNone/>
            </a:pPr>
            <a:r>
              <a:rPr lang="en-IN" sz="1600" dirty="0"/>
              <a:t>[7] K. Thakral, S. Mittal, U. Uppal, B. </a:t>
            </a:r>
            <a:r>
              <a:rPr lang="en-IN" sz="1600" dirty="0" err="1"/>
              <a:t>Giddwani</a:t>
            </a:r>
            <a:r>
              <a:rPr lang="en-IN" sz="1600" dirty="0"/>
              <a:t>, M. Vatsa, and R. Singh, “Self-Supervised Continual Learning,” submitted to Tiny Papers @ ICLR 2023, Mar. 2023, revised Jun. 2023. [Online]. Available: https://openreview.net/forum?id=udl9OobOxZu. [Accessed: Jul. 12, 2026].</a:t>
            </a:r>
          </a:p>
          <a:p>
            <a:pPr marL="0" lvl="0" indent="0">
              <a:lnSpc>
                <a:spcPct val="100000"/>
              </a:lnSpc>
              <a:buSzPct val="100000"/>
              <a:buNone/>
            </a:pPr>
            <a:endParaRPr lang="en-US" sz="1600" dirty="0">
              <a:latin typeface="Helvetica Neue Light" panose="020B0604020202020204" charset="0"/>
            </a:endParaRPr>
          </a:p>
          <a:p>
            <a:pPr lvl="0"/>
            <a:endParaRPr lang="en-US" sz="1600" dirty="0">
              <a:latin typeface="Helvetica Neue Light" panose="020B0604020202020204" charset="0"/>
            </a:endParaRPr>
          </a:p>
          <a:p>
            <a:pPr marL="0" lvl="0" indent="0">
              <a:lnSpc>
                <a:spcPct val="100000"/>
              </a:lnSpc>
              <a:buSzPct val="100000"/>
              <a:buNone/>
            </a:pPr>
            <a:endParaRPr lang="en-US" sz="1600" dirty="0">
              <a:latin typeface="Helvetica Neue Light" panose="020B0604020202020204" charset="0"/>
            </a:endParaRPr>
          </a:p>
          <a:p>
            <a:pPr marL="80010" lvl="0" indent="0" algn="l" rtl="0">
              <a:lnSpc>
                <a:spcPct val="110000"/>
              </a:lnSpc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>
              <a:sym typeface="Helvetica Neue Light"/>
            </a:endParaRPr>
          </a:p>
          <a:p>
            <a:pPr marL="80010" lvl="0" indent="0" algn="l" rtl="0">
              <a:lnSpc>
                <a:spcPct val="110000"/>
              </a:lnSpc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>
              <a:sym typeface="Helvetica Neue Light"/>
            </a:endParaRPr>
          </a:p>
          <a:p>
            <a:pPr marL="80010" lvl="0" indent="0" algn="l" rtl="0">
              <a:lnSpc>
                <a:spcPct val="110000"/>
              </a:lnSpc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>
              <a:sym typeface="Helvetica Neue Light"/>
            </a:endParaRPr>
          </a:p>
          <a:p>
            <a:pPr marL="0" lvl="0" indent="0" algn="l" rtl="0">
              <a:lnSpc>
                <a:spcPct val="120000"/>
              </a:lnSpc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>
              <a:sym typeface="Helvetica Neue Light"/>
            </a:endParaRPr>
          </a:p>
          <a:p>
            <a:pPr marL="80010" lvl="0" indent="0" algn="l" rtl="0">
              <a:lnSpc>
                <a:spcPct val="120000"/>
              </a:lnSpc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>
              <a:sym typeface="Helvetica Neue Light"/>
            </a:endParaRPr>
          </a:p>
          <a:p>
            <a:pPr marL="80010" lvl="0" indent="0" algn="l" rtl="0">
              <a:lnSpc>
                <a:spcPct val="120000"/>
              </a:lnSpc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>
              <a:sym typeface="Helvetica Neue Light"/>
            </a:endParaRPr>
          </a:p>
          <a:p>
            <a:pPr marL="80010" lvl="0" indent="0" algn="l" rtl="0">
              <a:lnSpc>
                <a:spcPct val="120000"/>
              </a:lnSpc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>
              <a:sym typeface="Helvetica Neue Light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287078" y="128828"/>
            <a:ext cx="1051560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Helvetica Neue"/>
              <a:buNone/>
            </a:pPr>
            <a:r>
              <a:rPr lang="en-IN" sz="4000" b="1" i="0" u="sng" dirty="0">
                <a:solidFill>
                  <a:schemeClr val="bg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 sz="4000" b="1" i="0" u="sng" dirty="0">
              <a:solidFill>
                <a:schemeClr val="bg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FA5017F-9552-26B7-83A2-4BADC435C210}"/>
              </a:ext>
            </a:extLst>
          </p:cNvPr>
          <p:cNvSpPr txBox="1">
            <a:spLocks/>
          </p:cNvSpPr>
          <p:nvPr/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|</a:t>
            </a:r>
            <a:r>
              <a:rPr lang="en-US" dirty="0"/>
              <a:t>  </a:t>
            </a:r>
            <a:fld id="{4887A435-7270-5342-8E5D-300AA53C7D91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IN" sz="4800">
                <a:solidFill>
                  <a:schemeClr val="dk2"/>
                </a:solidFill>
              </a:rPr>
              <a:t>Thank you</a:t>
            </a:r>
            <a:endParaRPr sz="4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10688</TotalTime>
  <Words>834</Words>
  <Application>Microsoft Office PowerPoint</Application>
  <PresentationFormat>Widescreen</PresentationFormat>
  <Paragraphs>71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Helvetica Neue</vt:lpstr>
      <vt:lpstr>Arial</vt:lpstr>
      <vt:lpstr>Helvetica Neue Light</vt:lpstr>
      <vt:lpstr>Helvetica Neue </vt:lpstr>
      <vt:lpstr>Calibri</vt:lpstr>
      <vt:lpstr>Times New Roman</vt:lpstr>
      <vt:lpstr>Office Theme</vt:lpstr>
      <vt:lpstr>Student: Dhvanit Mahesuriya (AU2440039) Programme: B.Tech CSE Domain: WiFi Sensing Date: 13th September 2026   </vt:lpstr>
      <vt:lpstr>Motivation &amp; the 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      : Prof. Dhaval Patel                                               Student      : Dhvanit Mahesuriya</dc:title>
  <dc:creator>Microsoft Office User</dc:creator>
  <cp:lastModifiedBy>Dhvanit Mahesuriya</cp:lastModifiedBy>
  <cp:revision>79</cp:revision>
  <dcterms:created xsi:type="dcterms:W3CDTF">2019-05-10T05:56:50Z</dcterms:created>
  <dcterms:modified xsi:type="dcterms:W3CDTF">2026-09-13T10:09:59Z</dcterms:modified>
</cp:coreProperties>
</file>