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70" r:id="rId7"/>
    <p:sldId id="261" r:id="rId8"/>
    <p:sldId id="263" r:id="rId9"/>
    <p:sldId id="268" r:id="rId10"/>
    <p:sldId id="269" r:id="rId11"/>
  </p:sldIdLst>
  <p:sldSz cx="12192000" cy="6858000"/>
  <p:notesSz cx="6858000" cy="9144000"/>
  <p:embeddedFontLst>
    <p:embeddedFont>
      <p:font typeface="Helvetica Neue" panose="020B0604020202020204" charset="0"/>
      <p:regular r:id="rId13"/>
      <p:bold r:id="rId14"/>
      <p:italic r:id="rId15"/>
      <p:boldItalic r:id="rId16"/>
    </p:embeddedFont>
    <p:embeddedFont>
      <p:font typeface="Helvetica Neue Light" panose="020B0604020202020204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7" roundtripDataSignature="AMtx7mhrdb9heUzm6oU0glj9tyv+4Whv5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f0f4ca3a9d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86" name="Google Shape;86;g3f0f4ca3a9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5" name="Google Shape;9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9" name="Google Shape;10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4" name="Google Shape;12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4" name="Google Shape;13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>
          <a:extLst>
            <a:ext uri="{FF2B5EF4-FFF2-40B4-BE49-F238E27FC236}">
              <a16:creationId xmlns:a16="http://schemas.microsoft.com/office/drawing/2014/main" id="{6F02A7EC-1999-3324-1AF6-743F7C0BC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:notes">
            <a:extLst>
              <a:ext uri="{FF2B5EF4-FFF2-40B4-BE49-F238E27FC236}">
                <a16:creationId xmlns:a16="http://schemas.microsoft.com/office/drawing/2014/main" id="{23ED6EED-71CE-0AFA-6712-2587FCCDA64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4" name="Google Shape;134;p6:notes">
            <a:extLst>
              <a:ext uri="{FF2B5EF4-FFF2-40B4-BE49-F238E27FC236}">
                <a16:creationId xmlns:a16="http://schemas.microsoft.com/office/drawing/2014/main" id="{4225B288-9242-6652-1FE7-D2CE1E06B9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1423736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9" name="Google Shape;14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1" name="Google Shape;17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0" name="Google Shape;210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7" name="Google Shape;217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bg>
      <p:bgPr>
        <a:solidFill>
          <a:srgbClr val="801B19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0"/>
          <p:cNvSpPr txBox="1">
            <a:spLocks noGrp="1"/>
          </p:cNvSpPr>
          <p:nvPr>
            <p:ph type="title"/>
          </p:nvPr>
        </p:nvSpPr>
        <p:spPr>
          <a:xfrm>
            <a:off x="844150" y="3874808"/>
            <a:ext cx="10515600" cy="835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1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Helvetica Neue"/>
              <a:buNone/>
              <a:defRPr sz="3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0" name="Google Shape;20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042932" y="1479396"/>
            <a:ext cx="4106136" cy="13477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>
            <a:spLocks noGrp="1"/>
          </p:cNvSpPr>
          <p:nvPr>
            <p:ph type="title"/>
          </p:nvPr>
        </p:nvSpPr>
        <p:spPr>
          <a:xfrm>
            <a:off x="594303" y="2667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1"/>
          <p:cNvSpPr txBox="1">
            <a:spLocks noGrp="1"/>
          </p:cNvSpPr>
          <p:nvPr>
            <p:ph type="body" idx="1"/>
          </p:nvPr>
        </p:nvSpPr>
        <p:spPr>
          <a:xfrm>
            <a:off x="582427" y="176895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Char char="•"/>
              <a:defRPr sz="2400"/>
            </a:lvl1pPr>
            <a:lvl2pPr marL="914400" lvl="1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Char char="•"/>
              <a:defRPr sz="2000"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Char char="•"/>
              <a:defRPr sz="1800"/>
            </a:lvl3pPr>
            <a:lvl4pPr marL="182880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Char char="•"/>
              <a:defRPr sz="1600"/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21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|</a:t>
            </a:r>
            <a:r>
              <a:rPr lang="en-IN" b="0"/>
              <a:t>  </a:t>
            </a:r>
            <a:fld id="{00000000-1234-1234-1234-123412341234}" type="slidenum">
              <a:rPr lang="en-IN" b="0"/>
              <a:t>‹#›</a:t>
            </a:fld>
            <a:endParaRPr b="0"/>
          </a:p>
        </p:txBody>
      </p:sp>
      <p:sp>
        <p:nvSpPr>
          <p:cNvPr id="25" name="Google Shape;25;p21"/>
          <p:cNvSpPr txBox="1">
            <a:spLocks noGrp="1"/>
          </p:cNvSpPr>
          <p:nvPr>
            <p:ph type="dt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6" name="Google Shape;26;p21"/>
          <p:cNvPicPr preferRelativeResize="0"/>
          <p:nvPr/>
        </p:nvPicPr>
        <p:blipFill rotWithShape="1">
          <a:blip r:embed="rId2">
            <a:alphaModFix/>
          </a:blip>
          <a:srcRect l="29654" t="38312" r="29481" b="38397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3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4247">
          <p15:clr>
            <a:srgbClr val="FBAE40"/>
          </p15:clr>
        </p15:guide>
        <p15:guide id="4" orient="horz" pos="164">
          <p15:clr>
            <a:srgbClr val="FBAE40"/>
          </p15:clr>
        </p15:guide>
        <p15:guide id="5" orient="horz" pos="1003">
          <p15:clr>
            <a:srgbClr val="FBAE40"/>
          </p15:clr>
        </p15:guide>
        <p15:guide id="6" pos="121">
          <p15:clr>
            <a:srgbClr val="FBAE40"/>
          </p15:clr>
        </p15:guide>
        <p15:guide id="7" pos="370">
          <p15:clr>
            <a:srgbClr val="FBAE40"/>
          </p15:clr>
        </p15:guide>
        <p15:guide id="8" orient="horz" pos="1117">
          <p15:clr>
            <a:srgbClr val="FBAE40"/>
          </p15:clr>
        </p15:guide>
        <p15:guide id="9" pos="6992">
          <p15:clr>
            <a:srgbClr val="FBAE40"/>
          </p15:clr>
        </p15:guide>
        <p15:guide id="10" orient="horz" pos="3861">
          <p15:clr>
            <a:srgbClr val="FBAE40"/>
          </p15:clr>
        </p15:guide>
        <p15:guide id="11" pos="7559">
          <p15:clr>
            <a:srgbClr val="FBAE40"/>
          </p15:clr>
        </p15:guide>
        <p15:guide id="12" orient="horz" pos="3952">
          <p15:clr>
            <a:srgbClr val="FBAE40"/>
          </p15:clr>
        </p15:guide>
        <p15:guide id="13" orient="horz" pos="4201">
          <p15:clr>
            <a:srgbClr val="FBAE40"/>
          </p15:clr>
        </p15:guide>
        <p15:guide id="14" orient="horz" pos="411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Helvetica Neue"/>
              <a:buNone/>
              <a:defRPr sz="54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2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Helvetica Neue Light"/>
              <a:buNone/>
              <a:defRPr sz="2000" b="0" i="0">
                <a:solidFill>
                  <a:srgbClr val="888888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Helvetica Neue Light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Helvetica Neue Light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Helvetica Neue Light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Helvetica Neue Light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22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|</a:t>
            </a:r>
            <a:r>
              <a:rPr lang="en-IN" b="0"/>
              <a:t>  </a:t>
            </a:r>
            <a:fld id="{00000000-1234-1234-1234-123412341234}" type="slidenum">
              <a:rPr lang="en-IN" b="0"/>
              <a:t>‹#›</a:t>
            </a:fld>
            <a:endParaRPr b="0"/>
          </a:p>
        </p:txBody>
      </p:sp>
      <p:sp>
        <p:nvSpPr>
          <p:cNvPr id="31" name="Google Shape;31;p22"/>
          <p:cNvSpPr txBox="1">
            <a:spLocks noGrp="1"/>
          </p:cNvSpPr>
          <p:nvPr>
            <p:ph type="dt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32" name="Google Shape;32;p22"/>
          <p:cNvPicPr preferRelativeResize="0"/>
          <p:nvPr/>
        </p:nvPicPr>
        <p:blipFill rotWithShape="1">
          <a:blip r:embed="rId2">
            <a:alphaModFix/>
          </a:blip>
          <a:srcRect l="29654" t="38312" r="29481" b="38397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23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23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|</a:t>
            </a:r>
            <a:r>
              <a:rPr lang="en-IN" b="0"/>
              <a:t>  </a:t>
            </a:r>
            <a:fld id="{00000000-1234-1234-1234-123412341234}" type="slidenum">
              <a:rPr lang="en-IN" b="0"/>
              <a:t>‹#›</a:t>
            </a:fld>
            <a:endParaRPr b="0"/>
          </a:p>
        </p:txBody>
      </p:sp>
      <p:sp>
        <p:nvSpPr>
          <p:cNvPr id="38" name="Google Shape;38;p23"/>
          <p:cNvSpPr txBox="1">
            <a:spLocks noGrp="1"/>
          </p:cNvSpPr>
          <p:nvPr>
            <p:ph type="dt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39" name="Google Shape;39;p23"/>
          <p:cNvPicPr preferRelativeResize="0"/>
          <p:nvPr/>
        </p:nvPicPr>
        <p:blipFill rotWithShape="1">
          <a:blip r:embed="rId2">
            <a:alphaModFix/>
          </a:blip>
          <a:srcRect l="29654" t="38312" r="29481" b="38397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4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4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4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4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4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24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|</a:t>
            </a:r>
            <a:r>
              <a:rPr lang="en-IN" b="0"/>
              <a:t>  </a:t>
            </a:r>
            <a:fld id="{00000000-1234-1234-1234-123412341234}" type="slidenum">
              <a:rPr lang="en-IN" b="0"/>
              <a:t>‹#›</a:t>
            </a:fld>
            <a:endParaRPr b="0"/>
          </a:p>
        </p:txBody>
      </p:sp>
      <p:sp>
        <p:nvSpPr>
          <p:cNvPr id="47" name="Google Shape;47;p24"/>
          <p:cNvSpPr txBox="1">
            <a:spLocks noGrp="1"/>
          </p:cNvSpPr>
          <p:nvPr>
            <p:ph type="dt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48" name="Google Shape;48;p24"/>
          <p:cNvPicPr preferRelativeResize="0"/>
          <p:nvPr/>
        </p:nvPicPr>
        <p:blipFill rotWithShape="1">
          <a:blip r:embed="rId2">
            <a:alphaModFix/>
          </a:blip>
          <a:srcRect l="29654" t="38312" r="29481" b="38397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5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|</a:t>
            </a:r>
            <a:r>
              <a:rPr lang="en-IN" b="0"/>
              <a:t>  </a:t>
            </a:r>
            <a:fld id="{00000000-1234-1234-1234-123412341234}" type="slidenum">
              <a:rPr lang="en-IN" b="0"/>
              <a:t>‹#›</a:t>
            </a:fld>
            <a:endParaRPr b="0"/>
          </a:p>
        </p:txBody>
      </p:sp>
      <p:sp>
        <p:nvSpPr>
          <p:cNvPr id="52" name="Google Shape;52;p25"/>
          <p:cNvSpPr txBox="1">
            <a:spLocks noGrp="1"/>
          </p:cNvSpPr>
          <p:nvPr>
            <p:ph type="dt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53" name="Google Shape;53;p25"/>
          <p:cNvPicPr preferRelativeResize="0"/>
          <p:nvPr/>
        </p:nvPicPr>
        <p:blipFill rotWithShape="1">
          <a:blip r:embed="rId2">
            <a:alphaModFix/>
          </a:blip>
          <a:srcRect l="29654" t="38312" r="29481" b="38397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6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|</a:t>
            </a:r>
            <a:r>
              <a:rPr lang="en-IN" b="0"/>
              <a:t>  </a:t>
            </a:r>
            <a:fld id="{00000000-1234-1234-1234-123412341234}" type="slidenum">
              <a:rPr lang="en-IN" b="0"/>
              <a:t>‹#›</a:t>
            </a:fld>
            <a:endParaRPr b="0"/>
          </a:p>
        </p:txBody>
      </p:sp>
      <p:sp>
        <p:nvSpPr>
          <p:cNvPr id="56" name="Google Shape;56;p26"/>
          <p:cNvSpPr txBox="1">
            <a:spLocks noGrp="1"/>
          </p:cNvSpPr>
          <p:nvPr>
            <p:ph type="dt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57" name="Google Shape;57;p26"/>
          <p:cNvPicPr preferRelativeResize="0"/>
          <p:nvPr/>
        </p:nvPicPr>
        <p:blipFill rotWithShape="1">
          <a:blip r:embed="rId2">
            <a:alphaModFix/>
          </a:blip>
          <a:srcRect l="29654" t="38312" r="29481" b="38397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7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 Light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 Light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27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 Light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 Light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27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|</a:t>
            </a:r>
            <a:r>
              <a:rPr lang="en-IN" b="0"/>
              <a:t>  </a:t>
            </a:r>
            <a:fld id="{00000000-1234-1234-1234-123412341234}" type="slidenum">
              <a:rPr lang="en-IN" b="0"/>
              <a:t>‹#›</a:t>
            </a:fld>
            <a:endParaRPr b="0"/>
          </a:p>
        </p:txBody>
      </p:sp>
      <p:sp>
        <p:nvSpPr>
          <p:cNvPr id="63" name="Google Shape;63;p27"/>
          <p:cNvSpPr txBox="1">
            <a:spLocks noGrp="1"/>
          </p:cNvSpPr>
          <p:nvPr>
            <p:ph type="dt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64" name="Google Shape;64;p27"/>
          <p:cNvPicPr preferRelativeResize="0"/>
          <p:nvPr/>
        </p:nvPicPr>
        <p:blipFill rotWithShape="1">
          <a:blip r:embed="rId2">
            <a:alphaModFix/>
          </a:blip>
          <a:srcRect l="29654" t="38312" r="29481" b="38397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8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8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 Light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 Light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 Light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 Light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28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|</a:t>
            </a:r>
            <a:r>
              <a:rPr lang="en-IN" b="0"/>
              <a:t>  </a:t>
            </a:r>
            <a:fld id="{00000000-1234-1234-1234-123412341234}" type="slidenum">
              <a:rPr lang="en-IN" b="0"/>
              <a:t>‹#›</a:t>
            </a:fld>
            <a:endParaRPr b="0"/>
          </a:p>
        </p:txBody>
      </p:sp>
      <p:sp>
        <p:nvSpPr>
          <p:cNvPr id="70" name="Google Shape;70;p28"/>
          <p:cNvSpPr txBox="1">
            <a:spLocks noGrp="1"/>
          </p:cNvSpPr>
          <p:nvPr>
            <p:ph type="dt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71" name="Google Shape;71;p28"/>
          <p:cNvPicPr preferRelativeResize="0"/>
          <p:nvPr/>
        </p:nvPicPr>
        <p:blipFill rotWithShape="1">
          <a:blip r:embed="rId2">
            <a:alphaModFix/>
          </a:blip>
          <a:srcRect l="29654" t="38312" r="29481" b="38397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9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9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|</a:t>
            </a:r>
            <a:r>
              <a:rPr lang="en-IN" b="0"/>
              <a:t>  </a:t>
            </a:r>
            <a:fld id="{00000000-1234-1234-1234-123412341234}" type="slidenum">
              <a:rPr lang="en-IN" b="0"/>
              <a:t>‹#›</a:t>
            </a:fld>
            <a:endParaRPr b="0"/>
          </a:p>
        </p:txBody>
      </p:sp>
      <p:sp>
        <p:nvSpPr>
          <p:cNvPr id="76" name="Google Shape;76;p29"/>
          <p:cNvSpPr txBox="1">
            <a:spLocks noGrp="1"/>
          </p:cNvSpPr>
          <p:nvPr>
            <p:ph type="dt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77" name="Google Shape;77;p29"/>
          <p:cNvPicPr preferRelativeResize="0"/>
          <p:nvPr/>
        </p:nvPicPr>
        <p:blipFill rotWithShape="1">
          <a:blip r:embed="rId2">
            <a:alphaModFix/>
          </a:blip>
          <a:srcRect l="29654" t="38312" r="29481" b="38397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0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0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30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|</a:t>
            </a:r>
            <a:r>
              <a:rPr lang="en-IN" b="0"/>
              <a:t>  </a:t>
            </a:r>
            <a:fld id="{00000000-1234-1234-1234-123412341234}" type="slidenum">
              <a:rPr lang="en-IN" b="0"/>
              <a:t>‹#›</a:t>
            </a:fld>
            <a:endParaRPr b="0"/>
          </a:p>
        </p:txBody>
      </p:sp>
      <p:sp>
        <p:nvSpPr>
          <p:cNvPr id="82" name="Google Shape;82;p30"/>
          <p:cNvSpPr txBox="1">
            <a:spLocks noGrp="1"/>
          </p:cNvSpPr>
          <p:nvPr>
            <p:ph type="dt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83" name="Google Shape;83;p30"/>
          <p:cNvPicPr preferRelativeResize="0"/>
          <p:nvPr/>
        </p:nvPicPr>
        <p:blipFill rotWithShape="1">
          <a:blip r:embed="rId2">
            <a:alphaModFix/>
          </a:blip>
          <a:srcRect l="29654" t="38312" r="29481" b="38397"/>
          <a:stretch/>
        </p:blipFill>
        <p:spPr>
          <a:xfrm>
            <a:off x="358814" y="6038948"/>
            <a:ext cx="1365812" cy="598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  <a:defRPr sz="4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 Light"/>
              <a:buChar char="•"/>
              <a:defRPr sz="28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Char char="•"/>
              <a:defRPr sz="24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Char char="•"/>
              <a:defRPr sz="20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Char char="•"/>
              <a:defRPr sz="18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Char char="•"/>
              <a:defRPr sz="18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grpSp>
        <p:nvGrpSpPr>
          <p:cNvPr id="12" name="Google Shape;12;p19"/>
          <p:cNvGrpSpPr/>
          <p:nvPr/>
        </p:nvGrpSpPr>
        <p:grpSpPr>
          <a:xfrm>
            <a:off x="0" y="6756400"/>
            <a:ext cx="12192000" cy="105496"/>
            <a:chOff x="0" y="6756400"/>
            <a:chExt cx="12192000" cy="105496"/>
          </a:xfrm>
        </p:grpSpPr>
        <p:pic>
          <p:nvPicPr>
            <p:cNvPr id="13" name="Google Shape;13;p19"/>
            <p:cNvPicPr preferRelativeResize="0"/>
            <p:nvPr/>
          </p:nvPicPr>
          <p:blipFill rotWithShape="1">
            <a:blip r:embed="rId13">
              <a:alphaModFix/>
            </a:blip>
            <a:srcRect/>
            <a:stretch/>
          </p:blipFill>
          <p:spPr>
            <a:xfrm>
              <a:off x="1524000" y="6756400"/>
              <a:ext cx="9144000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" name="Google Shape;14;p19"/>
            <p:cNvPicPr preferRelativeResize="0"/>
            <p:nvPr/>
          </p:nvPicPr>
          <p:blipFill rotWithShape="1">
            <a:blip r:embed="rId13">
              <a:alphaModFix/>
            </a:blip>
            <a:srcRect r="71580" b="15585"/>
            <a:stretch/>
          </p:blipFill>
          <p:spPr>
            <a:xfrm>
              <a:off x="0" y="6756400"/>
              <a:ext cx="2598717" cy="101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15;p19"/>
            <p:cNvPicPr preferRelativeResize="0"/>
            <p:nvPr/>
          </p:nvPicPr>
          <p:blipFill rotWithShape="1">
            <a:blip r:embed="rId13">
              <a:alphaModFix/>
            </a:blip>
            <a:srcRect r="71580" b="15585"/>
            <a:stretch/>
          </p:blipFill>
          <p:spPr>
            <a:xfrm>
              <a:off x="9593283" y="6756400"/>
              <a:ext cx="2598717" cy="10549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" name="Google Shape;16;p19"/>
          <p:cNvSpPr txBox="1">
            <a:spLocks noGrp="1"/>
          </p:cNvSpPr>
          <p:nvPr>
            <p:ph type="sldNum" idx="12"/>
          </p:nvPr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|</a:t>
            </a:r>
            <a:r>
              <a:rPr lang="en-IN" b="0"/>
              <a:t>  </a:t>
            </a:r>
            <a:fld id="{00000000-1234-1234-1234-123412341234}" type="slidenum">
              <a:rPr lang="en-IN" b="0"/>
              <a:t>‹#›</a:t>
            </a:fld>
            <a:endParaRPr b="0"/>
          </a:p>
        </p:txBody>
      </p:sp>
      <p:sp>
        <p:nvSpPr>
          <p:cNvPr id="17" name="Google Shape;17;p19"/>
          <p:cNvSpPr txBox="1">
            <a:spLocks noGrp="1"/>
          </p:cNvSpPr>
          <p:nvPr>
            <p:ph type="dt" idx="10"/>
          </p:nvPr>
        </p:nvSpPr>
        <p:spPr>
          <a:xfrm>
            <a:off x="7924800" y="6284674"/>
            <a:ext cx="2877878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7F7F7F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drive/folders/1zDbhfH3BV-xCZVUHmK65EgVV1HMDEYcz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g3f0f4ca3a9d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58453" y="679424"/>
            <a:ext cx="2884815" cy="103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88;g3f0f4ca3a9d_0_0">
            <a:extLst>
              <a:ext uri="{FF2B5EF4-FFF2-40B4-BE49-F238E27FC236}">
                <a16:creationId xmlns:a16="http://schemas.microsoft.com/office/drawing/2014/main" id="{52AF66EB-AA04-3E86-155F-4FB538A7F47C}"/>
              </a:ext>
            </a:extLst>
          </p:cNvPr>
          <p:cNvSpPr txBox="1">
            <a:spLocks/>
          </p:cNvSpPr>
          <p:nvPr/>
        </p:nvSpPr>
        <p:spPr>
          <a:xfrm>
            <a:off x="1848465" y="3534240"/>
            <a:ext cx="7914967" cy="128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1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Helvetica Neue"/>
              <a:buNone/>
              <a:defRPr sz="3400" b="1" i="0" u="none" strike="noStrik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SzPts val="2600"/>
            </a:pPr>
            <a:r>
              <a:rPr lang="en-IN" sz="2667" b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Student: Dhvanit Mahesuriya</a:t>
            </a:r>
            <a:br>
              <a:rPr lang="en-IN" sz="2667" b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IN" sz="2667" b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(AU2440039)</a:t>
            </a:r>
            <a:br>
              <a:rPr lang="en-IN" sz="2667" b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IN" sz="2667" b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Programme: </a:t>
            </a:r>
            <a:r>
              <a:rPr lang="en-IN" sz="2667" b="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B.Tech</a:t>
            </a:r>
            <a:r>
              <a:rPr lang="en-IN" sz="2667" b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CSE</a:t>
            </a:r>
            <a:br>
              <a:rPr lang="en-IN" sz="2667" b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IN" sz="2667" b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Domain: </a:t>
            </a:r>
            <a:r>
              <a:rPr lang="en-IN" sz="2667" b="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WiFi</a:t>
            </a:r>
            <a:r>
              <a:rPr lang="en-IN" sz="2667" b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Sensing</a:t>
            </a:r>
            <a:br>
              <a:rPr lang="en-IN" sz="2667" b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IN" sz="2667" b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Date: 11</a:t>
            </a:r>
            <a:r>
              <a:rPr lang="en-IN" sz="2667" b="0" baseline="30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</a:t>
            </a:r>
            <a:r>
              <a:rPr lang="en-IN" sz="2667" b="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October 2026</a:t>
            </a:r>
          </a:p>
          <a:p>
            <a:pPr algn="ctr">
              <a:buSzPts val="2600"/>
            </a:pPr>
            <a:r>
              <a:rPr lang="en-IN" sz="2650" b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lang="en-IN" sz="2650" b="0" dirty="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algn="ctr">
              <a:buSzPts val="2600"/>
            </a:pPr>
            <a:endParaRPr lang="en-IN" sz="1867" b="0" dirty="0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" name="Google Shape;90;g3f0f4ca3a9d_0_0">
            <a:extLst>
              <a:ext uri="{FF2B5EF4-FFF2-40B4-BE49-F238E27FC236}">
                <a16:creationId xmlns:a16="http://schemas.microsoft.com/office/drawing/2014/main" id="{4E605404-0E73-A5CB-80FF-08CBB82B1825}"/>
              </a:ext>
            </a:extLst>
          </p:cNvPr>
          <p:cNvSpPr txBox="1"/>
          <p:nvPr/>
        </p:nvSpPr>
        <p:spPr>
          <a:xfrm>
            <a:off x="0" y="5853306"/>
            <a:ext cx="12192000" cy="650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endParaRPr sz="933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-IN" sz="1600" b="0" i="0" u="none" strike="noStrike" cap="none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B.Tech</a:t>
            </a:r>
            <a:r>
              <a:rPr lang="en-IN" sz="16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Computer Science Engineering, School of Engineering and Applied Sciences </a:t>
            </a:r>
            <a:endParaRPr sz="16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Google Shape;91;g3f0f4ca3a9d_0_0">
            <a:extLst>
              <a:ext uri="{FF2B5EF4-FFF2-40B4-BE49-F238E27FC236}">
                <a16:creationId xmlns:a16="http://schemas.microsoft.com/office/drawing/2014/main" id="{2E9B3385-2F77-A73F-084A-F846647CB64B}"/>
              </a:ext>
            </a:extLst>
          </p:cNvPr>
          <p:cNvSpPr txBox="1"/>
          <p:nvPr/>
        </p:nvSpPr>
        <p:spPr>
          <a:xfrm>
            <a:off x="1848465" y="2703284"/>
            <a:ext cx="8170606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1" indent="0" algn="ctr">
              <a:buNone/>
            </a:pP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ASCEND: Adaptive Self-supervised Continual Expert Network for Domain-Incremental </a:t>
            </a:r>
            <a:r>
              <a:rPr lang="en-US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Wifi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Sensing</a:t>
            </a:r>
          </a:p>
        </p:txBody>
      </p:sp>
      <p:sp>
        <p:nvSpPr>
          <p:cNvPr id="8" name="Google Shape;92;g3f0f4ca3a9d_0_0">
            <a:extLst>
              <a:ext uri="{FF2B5EF4-FFF2-40B4-BE49-F238E27FC236}">
                <a16:creationId xmlns:a16="http://schemas.microsoft.com/office/drawing/2014/main" id="{DD67AC67-29EE-5487-3379-FD1E6A052E34}"/>
              </a:ext>
            </a:extLst>
          </p:cNvPr>
          <p:cNvSpPr txBox="1"/>
          <p:nvPr/>
        </p:nvSpPr>
        <p:spPr>
          <a:xfrm>
            <a:off x="2823029" y="2181447"/>
            <a:ext cx="6546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b="1" i="0" u="none" strike="noStrike" cap="none" dirty="0">
                <a:solidFill>
                  <a:srgbClr val="71717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ECE310 Wireless Communication</a:t>
            </a:r>
            <a:endParaRPr sz="2000" dirty="0">
              <a:solidFill>
                <a:srgbClr val="71717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/>
          <p:cNvSpPr txBox="1">
            <a:spLocks noGrp="1"/>
          </p:cNvSpPr>
          <p:nvPr>
            <p:ph type="body" idx="1"/>
          </p:nvPr>
        </p:nvSpPr>
        <p:spPr>
          <a:xfrm>
            <a:off x="287078" y="740377"/>
            <a:ext cx="5544557" cy="4051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</a:pPr>
            <a:r>
              <a:rPr lang="en-IN" b="1" u="sng">
                <a:solidFill>
                  <a:schemeClr val="dk2"/>
                </a:solidFill>
              </a:rPr>
              <a:t>Domain</a:t>
            </a:r>
            <a:endParaRPr/>
          </a:p>
          <a:p>
            <a:pPr marL="228600" lvl="0" indent="-2286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Arial"/>
              <a:buChar char="•"/>
            </a:pPr>
            <a:r>
              <a:rPr lang="en-IN" sz="1900"/>
              <a:t>Wi-Fi Sensing using CSI for Human Activity Recognition</a:t>
            </a:r>
            <a:endParaRPr/>
          </a:p>
          <a:p>
            <a:pPr marL="228600" lvl="0" indent="-2286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Arial"/>
              <a:buChar char="•"/>
            </a:pPr>
            <a:r>
              <a:rPr lang="en-IN" sz="1900"/>
              <a:t>Continual Domain Adaptation</a:t>
            </a:r>
            <a:endParaRPr/>
          </a:p>
          <a:p>
            <a:pPr marL="228600" lvl="0" indent="-10795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Arial"/>
              <a:buNone/>
            </a:pPr>
            <a:endParaRPr sz="1900"/>
          </a:p>
          <a:p>
            <a:pPr marL="0" lvl="0" indent="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</a:pPr>
            <a:r>
              <a:rPr lang="en-IN" b="1" u="sng">
                <a:solidFill>
                  <a:schemeClr val="dk2"/>
                </a:solidFill>
              </a:rPr>
              <a:t>Challenges</a:t>
            </a:r>
            <a:endParaRPr/>
          </a:p>
          <a:p>
            <a:pPr marL="228600" lvl="0" indent="-2286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Arial"/>
              <a:buChar char="•"/>
            </a:pPr>
            <a:r>
              <a:rPr lang="en-IN" sz="1900"/>
              <a:t>Limited Label Data</a:t>
            </a:r>
            <a:endParaRPr/>
          </a:p>
          <a:p>
            <a:pPr marL="228600" lvl="0" indent="-2286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Arial"/>
              <a:buChar char="•"/>
            </a:pPr>
            <a:r>
              <a:rPr lang="en-IN" sz="1900"/>
              <a:t>Domain Incremental Learning</a:t>
            </a:r>
            <a:endParaRPr/>
          </a:p>
          <a:p>
            <a:pPr marL="228600" lvl="0" indent="-2286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900"/>
              <a:buFont typeface="Arial"/>
              <a:buChar char="•"/>
            </a:pPr>
            <a:r>
              <a:rPr lang="en-IN" sz="1900"/>
              <a:t>Catastrophic Forgetting</a:t>
            </a:r>
            <a:endParaRPr sz="1900" b="1"/>
          </a:p>
        </p:txBody>
      </p:sp>
      <p:sp>
        <p:nvSpPr>
          <p:cNvPr id="98" name="Google Shape;98;p2"/>
          <p:cNvSpPr txBox="1"/>
          <p:nvPr/>
        </p:nvSpPr>
        <p:spPr>
          <a:xfrm>
            <a:off x="5152362" y="5237257"/>
            <a:ext cx="684529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None/>
            </a:pPr>
            <a:endParaRPr sz="1800" b="1" i="0" u="none" strike="noStrike" cap="none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99" name="Google Shape;99;p2"/>
          <p:cNvSpPr/>
          <p:nvPr/>
        </p:nvSpPr>
        <p:spPr>
          <a:xfrm>
            <a:off x="287078" y="4960258"/>
            <a:ext cx="11986984" cy="954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Can we teach a Wi-Fi sensing model to learn new environments continuously, without forgetting old ones, through Self-Supervised learning?</a:t>
            </a:r>
            <a:endParaRPr/>
          </a:p>
        </p:txBody>
      </p:sp>
      <p:sp>
        <p:nvSpPr>
          <p:cNvPr id="100" name="Google Shape;100;p2"/>
          <p:cNvSpPr txBox="1"/>
          <p:nvPr/>
        </p:nvSpPr>
        <p:spPr>
          <a:xfrm>
            <a:off x="287078" y="4800485"/>
            <a:ext cx="11802345" cy="1257416"/>
          </a:xfrm>
          <a:prstGeom prst="rect">
            <a:avLst/>
          </a:prstGeom>
          <a:noFill/>
          <a:ln w="9525" cap="flat" cmpd="sng">
            <a:solidFill>
              <a:srgbClr val="801B1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None/>
            </a:pPr>
            <a:endParaRPr sz="1800" b="0" i="0" u="none" strike="noStrike" cap="none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01" name="Google Shape;101;p2"/>
          <p:cNvSpPr txBox="1"/>
          <p:nvPr/>
        </p:nvSpPr>
        <p:spPr>
          <a:xfrm>
            <a:off x="5831635" y="740377"/>
            <a:ext cx="5544557" cy="16210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Helvetica Neue Light"/>
              <a:buNone/>
            </a:pPr>
            <a:r>
              <a:rPr lang="en-IN" sz="2400" b="1" i="0" u="sng" strike="noStrike" cap="none">
                <a:solidFill>
                  <a:schemeClr val="dk2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Objective</a:t>
            </a:r>
            <a:endParaRPr sz="2400" b="0" i="0" u="none" strike="noStrike" cap="none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228600" marR="0" lvl="0" indent="-2286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lang="en-IN" sz="19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Domain Incremental Learning based Model</a:t>
            </a:r>
            <a:endParaRPr/>
          </a:p>
          <a:p>
            <a:pPr marL="228600" marR="0" lvl="0" indent="-2286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lang="en-IN" sz="19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Preventing Catastrophic forgetting</a:t>
            </a:r>
            <a:endParaRPr/>
          </a:p>
          <a:p>
            <a:pPr marL="228600" marR="0" lvl="0" indent="-22860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lang="en-IN" sz="19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Self-Supervised learning based model</a:t>
            </a:r>
            <a:endParaRPr/>
          </a:p>
          <a:p>
            <a:pPr marL="228600" marR="0" lvl="0" indent="-107950" algn="l" rtl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02" name="Google Shape;102;p2"/>
          <p:cNvSpPr txBox="1">
            <a:spLocks noGrp="1"/>
          </p:cNvSpPr>
          <p:nvPr>
            <p:ph type="title"/>
          </p:nvPr>
        </p:nvSpPr>
        <p:spPr>
          <a:xfrm>
            <a:off x="287078" y="128828"/>
            <a:ext cx="10515600" cy="772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</a:pPr>
            <a:r>
              <a:rPr lang="en-IN" u="sng">
                <a:solidFill>
                  <a:schemeClr val="dk2"/>
                </a:solidFill>
              </a:rPr>
              <a:t>Motivation for the Problem Statement</a:t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103" name="Google Shape;10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31635" y="2361388"/>
            <a:ext cx="5483007" cy="1931207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2"/>
          <p:cNvSpPr txBox="1"/>
          <p:nvPr/>
        </p:nvSpPr>
        <p:spPr>
          <a:xfrm>
            <a:off x="1859280" y="6307172"/>
            <a:ext cx="8656320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[1] </a:t>
            </a:r>
            <a:r>
              <a:rPr lang="en-IN"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R. Li, T. Deng, S. Feng, M. Sun, and J. Jia, "ConSense: Continually sensing human activity with WiFi via growing and picking," in </a:t>
            </a:r>
            <a:r>
              <a:rPr lang="en-IN" sz="900" b="0" i="1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Proc. AAAI Conf. Artif. Intell.</a:t>
            </a:r>
            <a:r>
              <a:rPr lang="en-IN"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, vol. 39, no. 22, 2025, pp. 14292–14300.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IN" sz="9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2"/>
          <p:cNvSpPr txBox="1"/>
          <p:nvPr/>
        </p:nvSpPr>
        <p:spPr>
          <a:xfrm>
            <a:off x="5831635" y="4284600"/>
            <a:ext cx="609755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1800" b="1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Fig. 1: Catastrophic forgetting [1]</a:t>
            </a:r>
            <a:endParaRPr sz="1800" b="1" i="0" u="none" strike="noStrike" cap="none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06" name="Google Shape;106;p2"/>
          <p:cNvSpPr txBox="1"/>
          <p:nvPr/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|</a:t>
            </a:r>
            <a:r>
              <a:rPr lang="en-I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fld id="{00000000-1234-1234-1234-123412341234}" type="slidenum">
              <a:rPr lang="en-I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"/>
          <p:cNvSpPr txBox="1"/>
          <p:nvPr/>
        </p:nvSpPr>
        <p:spPr>
          <a:xfrm>
            <a:off x="287078" y="128828"/>
            <a:ext cx="10515600" cy="772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000" b="1" i="0" u="sng" strike="noStrike" cap="none" dirty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Literature Summary &amp; Problem Formulation</a:t>
            </a:r>
            <a:endParaRPr sz="4000" b="1" i="0" u="none" strike="noStrike" cap="none" dirty="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2" name="Google Shape;112;p3"/>
          <p:cNvSpPr/>
          <p:nvPr/>
        </p:nvSpPr>
        <p:spPr>
          <a:xfrm>
            <a:off x="463421" y="3634064"/>
            <a:ext cx="5632579" cy="12551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 Light"/>
              <a:buNone/>
            </a:pPr>
            <a:r>
              <a:rPr lang="en-IN" sz="2000" b="1" i="0" u="sng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Key Observations: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30400" marR="0" lvl="0" indent="-2304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IN" sz="2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Catastrophic Forgetting is Universal</a:t>
            </a:r>
            <a:endParaRPr/>
          </a:p>
          <a:p>
            <a:pPr marL="230400" marR="0" lvl="0" indent="-2304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IN" sz="2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Labels are the Bottleneck</a:t>
            </a:r>
            <a:endParaRPr/>
          </a:p>
        </p:txBody>
      </p:sp>
      <p:sp>
        <p:nvSpPr>
          <p:cNvPr id="113" name="Google Shape;113;p3"/>
          <p:cNvSpPr txBox="1"/>
          <p:nvPr/>
        </p:nvSpPr>
        <p:spPr>
          <a:xfrm flipH="1">
            <a:off x="5203648" y="3952353"/>
            <a:ext cx="6402197" cy="1708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30400" marR="0" lvl="0" indent="-2304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IN" sz="2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Exemplar Storage has Privacy Risk</a:t>
            </a:r>
            <a:endParaRPr/>
          </a:p>
          <a:p>
            <a:pPr marL="230400" marR="0" lvl="0" indent="-2304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IN" sz="20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Continual learning in Domain adaptation in Wifi HAR unexplored</a:t>
            </a:r>
            <a:endParaRPr sz="2000" b="0" i="0" u="sng" strike="noStrike" cap="none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230400" marR="0" lvl="0" indent="-2304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14" name="Google Shape;114;p3"/>
          <p:cNvSpPr/>
          <p:nvPr/>
        </p:nvSpPr>
        <p:spPr>
          <a:xfrm>
            <a:off x="1617785" y="5630057"/>
            <a:ext cx="9530861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[1] R. Li, T. Deng, S. Feng, M. Sun, and J. Jia, "ConSense: Continually sensing human activity with WiFi via growing and picking," in </a:t>
            </a:r>
            <a:r>
              <a:rPr lang="en-IN" sz="900" b="0" i="1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Proc. AAAI Conf. Artif. Intell.</a:t>
            </a:r>
            <a:r>
              <a:rPr lang="en-IN"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, vol. 39, no. 22, 2025, pp. 14292–14300.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[2] C. Tang, P. Tang, H. Zhang, J. Jin and S. Mao, "Wi-DMAR: Cross-Domain Human Activity Recognition via an Enhanced Conditional Diffusion Model," in IEEE Internet of Things Journal, vol. 13, no. 11, pp. 25343-25353, 1 June1, 2026, doi: 10.1109/JIOT.2026.3676817.</a:t>
            </a:r>
            <a:endParaRPr sz="900" b="0" i="0" u="none" strike="noStrike" cap="none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[3] G. Liu, Y. Hao and Y. Zou, "CIG-MAE: Cross-Modal Information-Guided Masked Autoencoder for Self-Supervised WiFi Sensing," in IEEE Internet of Things Journal, doi: 10.1109/JIOT.2026.3696504.</a:t>
            </a:r>
            <a:endParaRPr sz="900" b="0" i="0" u="none" strike="noStrike" cap="none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[4] W. Zheng, Y. Mao, and I. W. H. Ho, "Scene-adaptive continual learning for CSI-based human activity recognition with mixture of experts," </a:t>
            </a:r>
            <a:r>
              <a:rPr lang="en-IN" sz="900" b="0" i="1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arXiv preprint arXiv:2605.06447</a:t>
            </a:r>
            <a:r>
              <a:rPr lang="en-IN"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, 2026.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15" name="Google Shape;115;p3"/>
          <p:cNvSpPr txBox="1"/>
          <p:nvPr/>
        </p:nvSpPr>
        <p:spPr>
          <a:xfrm>
            <a:off x="3155618" y="1273140"/>
            <a:ext cx="44275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1800" b="1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[2]</a:t>
            </a:r>
            <a:endParaRPr sz="1800" b="1" i="0" u="none" strike="noStrike" cap="none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grpSp>
        <p:nvGrpSpPr>
          <p:cNvPr id="116" name="Google Shape;116;p3"/>
          <p:cNvGrpSpPr/>
          <p:nvPr/>
        </p:nvGrpSpPr>
        <p:grpSpPr>
          <a:xfrm>
            <a:off x="1958167" y="1378826"/>
            <a:ext cx="7329571" cy="2255252"/>
            <a:chOff x="1880092" y="735451"/>
            <a:chExt cx="7329571" cy="2255252"/>
          </a:xfrm>
        </p:grpSpPr>
        <p:pic>
          <p:nvPicPr>
            <p:cNvPr id="117" name="Google Shape;117;p3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880092" y="735451"/>
              <a:ext cx="7329571" cy="225525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8" name="Google Shape;118;p3"/>
            <p:cNvSpPr txBox="1"/>
            <p:nvPr/>
          </p:nvSpPr>
          <p:spPr>
            <a:xfrm>
              <a:off x="3155618" y="1594735"/>
              <a:ext cx="748370" cy="369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IN" sz="1800" b="1" i="0" u="none" strike="noStrike" cap="none" dirty="0">
                  <a:solidFill>
                    <a:schemeClr val="dk1"/>
                  </a:solidFill>
                  <a:latin typeface="Helvetica Neue Light"/>
                  <a:ea typeface="Helvetica Neue Light"/>
                  <a:cs typeface="Helvetica Neue Light"/>
                  <a:sym typeface="Helvetica Neue Light"/>
                </a:rPr>
                <a:t>[3]</a:t>
              </a:r>
              <a:endParaRPr sz="1800" b="1" i="0" u="none" strike="noStrike" cap="none" dirty="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  <p:sp>
          <p:nvSpPr>
            <p:cNvPr id="119" name="Google Shape;119;p3"/>
            <p:cNvSpPr txBox="1"/>
            <p:nvPr/>
          </p:nvSpPr>
          <p:spPr>
            <a:xfrm>
              <a:off x="3155617" y="1912345"/>
              <a:ext cx="748371" cy="369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IN" sz="1800" b="1" i="0" u="none" strike="noStrike" cap="none" dirty="0">
                  <a:solidFill>
                    <a:schemeClr val="dk1"/>
                  </a:solidFill>
                  <a:latin typeface="Helvetica Neue Light"/>
                  <a:ea typeface="Helvetica Neue Light"/>
                  <a:cs typeface="Helvetica Neue Light"/>
                  <a:sym typeface="Helvetica Neue Light"/>
                </a:rPr>
                <a:t>[1]</a:t>
              </a:r>
              <a:endParaRPr sz="1800" b="1" i="0" u="none" strike="noStrike" cap="none" dirty="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  <p:sp>
          <p:nvSpPr>
            <p:cNvPr id="120" name="Google Shape;120;p3"/>
            <p:cNvSpPr txBox="1"/>
            <p:nvPr/>
          </p:nvSpPr>
          <p:spPr>
            <a:xfrm>
              <a:off x="3155618" y="2198622"/>
              <a:ext cx="748372" cy="369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IN" sz="1800" b="1" i="0" u="none" strike="noStrike" cap="none" dirty="0">
                  <a:solidFill>
                    <a:schemeClr val="dk1"/>
                  </a:solidFill>
                  <a:latin typeface="Helvetica Neue Light"/>
                  <a:ea typeface="Helvetica Neue Light"/>
                  <a:cs typeface="Helvetica Neue Light"/>
                  <a:sym typeface="Helvetica Neue Light"/>
                </a:rPr>
                <a:t>[4]</a:t>
              </a:r>
              <a:endParaRPr sz="1800" b="1" i="0" u="none" strike="noStrike" cap="none" dirty="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endParaRPr>
            </a:p>
          </p:txBody>
        </p:sp>
      </p:grpSp>
      <p:sp>
        <p:nvSpPr>
          <p:cNvPr id="121" name="Google Shape;121;p3"/>
          <p:cNvSpPr txBox="1"/>
          <p:nvPr/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|</a:t>
            </a:r>
            <a:r>
              <a:rPr lang="en-I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fld id="{00000000-1234-1234-1234-123412341234}" type="slidenum">
              <a:rPr lang="en-I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"/>
          <p:cNvSpPr txBox="1"/>
          <p:nvPr/>
        </p:nvSpPr>
        <p:spPr>
          <a:xfrm>
            <a:off x="287078" y="128828"/>
            <a:ext cx="10515600" cy="7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000" b="1" i="0" u="sng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Proposed Innovation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1657114" y="6359840"/>
            <a:ext cx="953086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[4] W. Zheng, Y. Mao, and I. W. H. Ho, "Scene-adaptive continual learning for CSI-based human activity recognition with mixture of experts," </a:t>
            </a:r>
            <a:r>
              <a:rPr lang="en-IN" sz="900" b="0" i="1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arXiv preprint arXiv:2605.06447</a:t>
            </a:r>
            <a:r>
              <a:rPr lang="en-IN"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, 2026.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pic>
        <p:nvPicPr>
          <p:cNvPr id="128" name="Google Shape;128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65367" y="776749"/>
            <a:ext cx="7455000" cy="3141492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5"/>
          <p:cNvSpPr txBox="1"/>
          <p:nvPr/>
        </p:nvSpPr>
        <p:spPr>
          <a:xfrm>
            <a:off x="1096296" y="4157513"/>
            <a:ext cx="9999407" cy="1631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IN" sz="2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EWC: Mitigates catastrophic forgetting across domains. 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IN" sz="2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SSL Router: Improves domain-aware expert selection. 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IN" sz="2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SSL-KD: Enhances representation alignment between backbone and specialists. 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IN" sz="2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AIM Masking: Generates more informative self-supervised signals. </a:t>
            </a:r>
            <a:endParaRPr/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IN" sz="2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Balanced Replay: Reduces bias toward recently learned domains.</a:t>
            </a:r>
            <a:endParaRPr/>
          </a:p>
        </p:txBody>
      </p:sp>
      <p:sp>
        <p:nvSpPr>
          <p:cNvPr id="130" name="Google Shape;130;p5"/>
          <p:cNvSpPr txBox="1"/>
          <p:nvPr/>
        </p:nvSpPr>
        <p:spPr>
          <a:xfrm>
            <a:off x="7589965" y="1002517"/>
            <a:ext cx="610137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1800" b="1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[4]</a:t>
            </a:r>
            <a:endParaRPr sz="1800" b="1" i="0" u="none" strike="noStrike" cap="none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31" name="Google Shape;131;p5"/>
          <p:cNvSpPr txBox="1"/>
          <p:nvPr/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|</a:t>
            </a:r>
            <a:r>
              <a:rPr lang="en-I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fld id="{00000000-1234-1234-1234-123412341234}" type="slidenum">
              <a:rPr lang="en-I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"/>
          <p:cNvSpPr txBox="1"/>
          <p:nvPr/>
        </p:nvSpPr>
        <p:spPr>
          <a:xfrm>
            <a:off x="287078" y="128828"/>
            <a:ext cx="11327560" cy="772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000" b="1" i="0" u="sng" strike="noStrike" cap="none" dirty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Related papers</a:t>
            </a:r>
            <a:endParaRPr sz="4000" b="1" i="0" u="none" strike="noStrike" cap="none" dirty="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38" name="Google Shape;138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51674" y="963170"/>
            <a:ext cx="2599334" cy="5181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90586" y="963181"/>
            <a:ext cx="2211378" cy="510318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6"/>
          <p:cNvSpPr txBox="1"/>
          <p:nvPr/>
        </p:nvSpPr>
        <p:spPr>
          <a:xfrm>
            <a:off x="1790619" y="655404"/>
            <a:ext cx="1638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b="1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WI-DMAR</a:t>
            </a:r>
            <a:endParaRPr sz="2000" b="1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41" name="Google Shape;141;p6"/>
          <p:cNvSpPr txBox="1"/>
          <p:nvPr/>
        </p:nvSpPr>
        <p:spPr>
          <a:xfrm>
            <a:off x="7753859" y="655415"/>
            <a:ext cx="2388764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b="1" i="0" u="none" strike="noStrike" cap="none" dirty="0" err="1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SAMoE</a:t>
            </a:r>
            <a:r>
              <a:rPr lang="en-IN" sz="2000" b="1" i="0" u="none" strike="noStrike" cap="none" dirty="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-C</a:t>
            </a:r>
            <a:endParaRPr sz="2000" b="1" i="0" u="none" strike="noStrike" cap="none" dirty="0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1824262" y="6211669"/>
            <a:ext cx="9530861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00" b="0" i="0" u="none" strike="noStrike" cap="non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[2] C. Tang, P. Tang, H. Zhang, J. Jin and S. Mao, "Wi-DMAR: Cross-Domain Human Activity Recognition via an Enhanced Conditional Diffusion Model," in IEEE Internet of Things Journal, vol. 13, no. 11, pp. 25343-25353, 1 June1, 2026, doi: 10.1109/JIOT.2026.3676817.</a:t>
            </a:r>
            <a:endParaRPr sz="900" b="0" i="0" u="none" strike="noStrike" cap="none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[4] W. Zheng, Y. Mao, and I. W. H. Ho, "Scene-adaptive continual learning for CSI-based human activity recognition with mixture of experts," </a:t>
            </a:r>
            <a:r>
              <a:rPr lang="en-IN" sz="900" b="0" i="1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arXiv preprint arXiv:2605.06447</a:t>
            </a:r>
            <a:r>
              <a:rPr lang="en-IN" sz="9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, 2026.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44" name="Google Shape;144;p6"/>
          <p:cNvSpPr txBox="1"/>
          <p:nvPr/>
        </p:nvSpPr>
        <p:spPr>
          <a:xfrm>
            <a:off x="9006730" y="655404"/>
            <a:ext cx="595233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1800" b="1" i="0" u="none" strike="noStrike" cap="none" dirty="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[4]</a:t>
            </a:r>
            <a:endParaRPr sz="1800" b="1" i="0" u="none" strike="noStrike" cap="none" dirty="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45" name="Google Shape;145;p6"/>
          <p:cNvSpPr txBox="1"/>
          <p:nvPr/>
        </p:nvSpPr>
        <p:spPr>
          <a:xfrm>
            <a:off x="3104559" y="638896"/>
            <a:ext cx="59116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1800" b="1" i="0" u="none" strike="noStrike" cap="none" dirty="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[2]</a:t>
            </a:r>
            <a:endParaRPr sz="1800" b="1" i="0" u="none" strike="noStrike" cap="none" dirty="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46" name="Google Shape;146;p6"/>
          <p:cNvSpPr txBox="1"/>
          <p:nvPr/>
        </p:nvSpPr>
        <p:spPr>
          <a:xfrm>
            <a:off x="10804002" y="6354033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|</a:t>
            </a:r>
            <a:r>
              <a:rPr lang="en-I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fld id="{00000000-1234-1234-1234-123412341234}" type="slidenum">
              <a:rPr lang="en-I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>
          <a:extLst>
            <a:ext uri="{FF2B5EF4-FFF2-40B4-BE49-F238E27FC236}">
              <a16:creationId xmlns:a16="http://schemas.microsoft.com/office/drawing/2014/main" id="{75F49599-11CF-CF96-7BDD-238CE5FF16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">
            <a:extLst>
              <a:ext uri="{FF2B5EF4-FFF2-40B4-BE49-F238E27FC236}">
                <a16:creationId xmlns:a16="http://schemas.microsoft.com/office/drawing/2014/main" id="{09DE820E-D097-F4B0-F436-36AE3D659E04}"/>
              </a:ext>
            </a:extLst>
          </p:cNvPr>
          <p:cNvSpPr txBox="1"/>
          <p:nvPr/>
        </p:nvSpPr>
        <p:spPr>
          <a:xfrm>
            <a:off x="287078" y="128828"/>
            <a:ext cx="11327560" cy="772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000" b="1" i="0" u="sng" strike="noStrike" cap="none" dirty="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New Algorithm / Workflow / System Design</a:t>
            </a:r>
            <a:endParaRPr sz="4000" b="1" i="0" u="none" strike="noStrike" cap="none" dirty="0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6" name="Google Shape;146;p6">
            <a:extLst>
              <a:ext uri="{FF2B5EF4-FFF2-40B4-BE49-F238E27FC236}">
                <a16:creationId xmlns:a16="http://schemas.microsoft.com/office/drawing/2014/main" id="{255A729C-40AA-F6B9-2442-3A37957E9C7A}"/>
              </a:ext>
            </a:extLst>
          </p:cNvPr>
          <p:cNvSpPr txBox="1"/>
          <p:nvPr/>
        </p:nvSpPr>
        <p:spPr>
          <a:xfrm>
            <a:off x="10804002" y="6354033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|</a:t>
            </a:r>
            <a:r>
              <a:rPr lang="en-I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fld id="{00000000-1234-1234-1234-123412341234}" type="slidenum">
              <a:rPr lang="en-I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665F62F-BC7F-2D69-11F2-0CF71C91B3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055" y="1778673"/>
            <a:ext cx="10402393" cy="2459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99109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7"/>
          <p:cNvSpPr txBox="1"/>
          <p:nvPr/>
        </p:nvSpPr>
        <p:spPr>
          <a:xfrm>
            <a:off x="287078" y="128828"/>
            <a:ext cx="11371522" cy="772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000" b="1" i="0" u="sng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Preliminary New Results in Comparison with Base Papers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52" name="Google Shape;152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53111" y="1910058"/>
            <a:ext cx="3333581" cy="14988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87078" y="1877101"/>
            <a:ext cx="3445568" cy="4041917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7"/>
          <p:cNvSpPr txBox="1"/>
          <p:nvPr/>
        </p:nvSpPr>
        <p:spPr>
          <a:xfrm>
            <a:off x="287078" y="1483811"/>
            <a:ext cx="344556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Key Hyperparameters of Run</a:t>
            </a:r>
            <a:endParaRPr/>
          </a:p>
        </p:txBody>
      </p:sp>
      <p:sp>
        <p:nvSpPr>
          <p:cNvPr id="156" name="Google Shape;156;p7"/>
          <p:cNvSpPr txBox="1"/>
          <p:nvPr/>
        </p:nvSpPr>
        <p:spPr>
          <a:xfrm>
            <a:off x="4395982" y="4059232"/>
            <a:ext cx="6960358" cy="18167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IN" sz="2000" b="1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Dataset: MM-Fi</a:t>
            </a:r>
            <a:endParaRPr/>
          </a:p>
          <a:p>
            <a:pPr marL="0" marR="0" lvl="0" indent="-127000" algn="l" rtl="0">
              <a:lnSpc>
                <a:spcPct val="975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IN" sz="2000" b="1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CSI shape:</a:t>
            </a:r>
            <a:r>
              <a:rPr lang="en-IN" sz="2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 3 × 10 × 114 (antennas × time × subcarriers)</a:t>
            </a:r>
            <a:endParaRPr/>
          </a:p>
          <a:p>
            <a:pPr marL="0" marR="0" lvl="0" indent="-127000" algn="l" rtl="0">
              <a:lnSpc>
                <a:spcPct val="975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IN" sz="2000" b="1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Activities:</a:t>
            </a:r>
            <a:r>
              <a:rPr lang="en-IN" sz="2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 27 classes</a:t>
            </a:r>
            <a:endParaRPr/>
          </a:p>
          <a:p>
            <a:pPr marL="0" marR="0" lvl="0" indent="-127000" algn="l" rtl="0">
              <a:lnSpc>
                <a:spcPct val="975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IN" sz="2000" b="1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Subjects:</a:t>
            </a:r>
            <a:r>
              <a:rPr lang="en-IN" sz="2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 40 humans</a:t>
            </a:r>
            <a:endParaRPr/>
          </a:p>
          <a:p>
            <a:pPr marL="0" marR="0" lvl="0" indent="-127000" algn="l" rtl="0">
              <a:lnSpc>
                <a:spcPct val="975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lang="en-IN" sz="2000" b="1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Domains:</a:t>
            </a:r>
            <a:r>
              <a:rPr lang="en-IN" sz="20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 4 rooms (2 living + 2 meeting)</a:t>
            </a:r>
            <a:endParaRPr/>
          </a:p>
        </p:txBody>
      </p:sp>
      <p:sp>
        <p:nvSpPr>
          <p:cNvPr id="157" name="Google Shape;157;p7"/>
          <p:cNvSpPr txBox="1"/>
          <p:nvPr/>
        </p:nvSpPr>
        <p:spPr>
          <a:xfrm>
            <a:off x="4197599" y="3784797"/>
            <a:ext cx="6655559" cy="2419834"/>
          </a:xfrm>
          <a:prstGeom prst="rect">
            <a:avLst/>
          </a:prstGeom>
          <a:noFill/>
          <a:ln w="9525" cap="flat" cmpd="sng">
            <a:solidFill>
              <a:srgbClr val="801B1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 Light"/>
              <a:buNone/>
            </a:pPr>
            <a:endParaRPr sz="1800" b="0" i="0" u="none" strike="noStrike" cap="none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58" name="Google Shape;158;p7"/>
          <p:cNvSpPr txBox="1"/>
          <p:nvPr/>
        </p:nvSpPr>
        <p:spPr>
          <a:xfrm>
            <a:off x="10577598" y="619618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|</a:t>
            </a:r>
            <a:r>
              <a:rPr lang="en-I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fld id="{00000000-1234-1234-1234-123412341234}" type="slidenum">
              <a:rPr lang="en-I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7"/>
          <p:cNvSpPr txBox="1"/>
          <p:nvPr/>
        </p:nvSpPr>
        <p:spPr>
          <a:xfrm>
            <a:off x="3885969" y="1475814"/>
            <a:ext cx="326168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Run on Synthetic Data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C096382-C5A2-121F-EAF1-5754E882CD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3179" y="901656"/>
            <a:ext cx="4395421" cy="279600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9"/>
          <p:cNvSpPr txBox="1"/>
          <p:nvPr/>
        </p:nvSpPr>
        <p:spPr>
          <a:xfrm>
            <a:off x="287078" y="128828"/>
            <a:ext cx="10515600" cy="772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000" b="1" i="0" u="sng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Next Final Two-Week Research Plan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4" name="Google Shape;174;p9"/>
          <p:cNvSpPr txBox="1"/>
          <p:nvPr/>
        </p:nvSpPr>
        <p:spPr>
          <a:xfrm>
            <a:off x="405007" y="1253331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Char char="•"/>
            </a:pPr>
            <a:r>
              <a:rPr lang="en-IN" sz="2800" b="0" i="0" u="none" strike="noStrike" cap="none" dirty="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Extract all KPIs</a:t>
            </a:r>
            <a:endParaRPr dirty="0"/>
          </a:p>
          <a:p>
            <a:pPr marL="457200" marR="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Char char="•"/>
            </a:pPr>
            <a:r>
              <a:rPr lang="en-IN" sz="2800" b="0" i="0" u="none" strike="noStrike" cap="none" dirty="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Run ablation study </a:t>
            </a:r>
            <a:endParaRPr dirty="0"/>
          </a:p>
          <a:p>
            <a:pPr marL="457200" marR="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 Light"/>
              <a:buChar char="•"/>
            </a:pPr>
            <a:r>
              <a:rPr lang="en-IN" sz="2800" b="0" i="0" u="none" strike="noStrike" cap="none" dirty="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Draft full manuscript in parallel</a:t>
            </a:r>
            <a:endParaRPr dirty="0"/>
          </a:p>
        </p:txBody>
      </p:sp>
      <p:sp>
        <p:nvSpPr>
          <p:cNvPr id="175" name="Google Shape;175;p9"/>
          <p:cNvSpPr txBox="1"/>
          <p:nvPr/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|</a:t>
            </a:r>
            <a:r>
              <a:rPr lang="en-I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fld id="{00000000-1234-1234-1234-123412341234}" type="slidenum">
              <a:rPr lang="en-I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7"/>
          <p:cNvSpPr txBox="1">
            <a:spLocks noGrp="1"/>
          </p:cNvSpPr>
          <p:nvPr>
            <p:ph type="body" idx="1"/>
          </p:nvPr>
        </p:nvSpPr>
        <p:spPr>
          <a:xfrm>
            <a:off x="562638" y="1078031"/>
            <a:ext cx="10515600" cy="4947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IN" sz="1600"/>
              <a:t>[1</a:t>
            </a:r>
            <a:r>
              <a:rPr lang="en-IN" sz="1600">
                <a:latin typeface="Helvetica Neue Light"/>
                <a:ea typeface="Helvetica Neue Light"/>
                <a:cs typeface="Helvetica Neue Light"/>
                <a:sym typeface="Helvetica Neue Light"/>
              </a:rPr>
              <a:t>] R. Li, T. Deng, S. Feng, M. Sun, and J. Jia, "ConSense: Continually sensing human activity with WiFi via growing and picking," in </a:t>
            </a:r>
            <a:r>
              <a:rPr lang="en-IN" sz="1600" i="1">
                <a:latin typeface="Helvetica Neue Light"/>
                <a:ea typeface="Helvetica Neue Light"/>
                <a:cs typeface="Helvetica Neue Light"/>
                <a:sym typeface="Helvetica Neue Light"/>
              </a:rPr>
              <a:t>Proc. AAAI Conf. Artif. Intell.</a:t>
            </a:r>
            <a:r>
              <a:rPr lang="en-IN" sz="1600">
                <a:latin typeface="Helvetica Neue Light"/>
                <a:ea typeface="Helvetica Neue Light"/>
                <a:cs typeface="Helvetica Neue Light"/>
                <a:sym typeface="Helvetica Neue Light"/>
              </a:rPr>
              <a:t>, vol. 39, no. 22, 2025, pp. 14292–14300.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IN" sz="1600">
                <a:latin typeface="Helvetica Neue Light"/>
                <a:ea typeface="Helvetica Neue Light"/>
                <a:cs typeface="Helvetica Neue Light"/>
                <a:sym typeface="Helvetica Neue Light"/>
              </a:rPr>
              <a:t>[2] C. Tang, P. Tang, H. Zhang, J. Jin and S. Mao, "Wi-DMAR: Cross-Domain Human Activity Recognition via an Enhanced Conditional Diffusion Model," in IEEE Internet of Things Journal, vol. 13, no. 11, pp. 25343-25353, 1 June1, 2026, doi: 10.1109/JIOT.2026.3676817.</a:t>
            </a:r>
            <a:endParaRPr sz="1600"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IN" sz="1600">
                <a:latin typeface="Helvetica Neue Light"/>
                <a:ea typeface="Helvetica Neue Light"/>
                <a:cs typeface="Helvetica Neue Light"/>
                <a:sym typeface="Helvetica Neue Light"/>
              </a:rPr>
              <a:t>[3] G. Liu, Y. Hao and Y. Zou, "CIG-MAE: Cross-Modal Information-Guided Masked Autoencoder for Self-Supervised WiFi Sensing," in IEEE Internet of Things Journal, doi: 10.1109/JIOT.2026.3696504.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IN" sz="1600">
                <a:latin typeface="Helvetica Neue Light"/>
                <a:ea typeface="Helvetica Neue Light"/>
                <a:cs typeface="Helvetica Neue Light"/>
                <a:sym typeface="Helvetica Neue Light"/>
              </a:rPr>
              <a:t>[4] W. Zheng, Y. Mao, and I. W. H. Ho, "Scene-adaptive continual learning for CSI-based human activity recognition with mixture of experts," </a:t>
            </a:r>
            <a:r>
              <a:rPr lang="en-IN" sz="1600" i="1">
                <a:latin typeface="Helvetica Neue Light"/>
                <a:ea typeface="Helvetica Neue Light"/>
                <a:cs typeface="Helvetica Neue Light"/>
                <a:sym typeface="Helvetica Neue Light"/>
              </a:rPr>
              <a:t>arXiv preprint arXiv:2605.06447</a:t>
            </a:r>
            <a:r>
              <a:rPr lang="en-IN" sz="1600">
                <a:latin typeface="Helvetica Neue Light"/>
                <a:ea typeface="Helvetica Neue Light"/>
                <a:cs typeface="Helvetica Neue Light"/>
                <a:sym typeface="Helvetica Neue Light"/>
              </a:rPr>
              <a:t>, 2026.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IN" sz="1600">
                <a:latin typeface="Helvetica Neue Light"/>
                <a:ea typeface="Helvetica Neue Light"/>
                <a:cs typeface="Helvetica Neue Light"/>
                <a:sym typeface="Helvetica Neue Light"/>
              </a:rPr>
              <a:t>[5] “MMFi Dataset,” Google Drive. [Online]. Available: </a:t>
            </a:r>
            <a:r>
              <a:rPr lang="en-IN" sz="1600" u="sng">
                <a:solidFill>
                  <a:schemeClr val="hlink"/>
                </a:solidFill>
                <a:latin typeface="Helvetica Neue Light"/>
                <a:ea typeface="Helvetica Neue Light"/>
                <a:cs typeface="Helvetica Neue Light"/>
                <a:sym typeface="Helvetica Neue Light"/>
                <a:hlinkClick r:id="rId3"/>
              </a:rPr>
              <a:t>https://drive.google.com/drive/folders/1zDbhfH3BV-xCZVUHmK65EgVV1HMDEYcz</a:t>
            </a:r>
            <a:r>
              <a:rPr lang="en-IN" sz="1600">
                <a:latin typeface="Helvetica Neue Light"/>
                <a:ea typeface="Helvetica Neue Light"/>
                <a:cs typeface="Helvetica Neue Light"/>
                <a:sym typeface="Helvetica Neue Light"/>
              </a:rPr>
              <a:t>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IN" sz="1600">
                <a:latin typeface="Helvetica Neue Light"/>
                <a:ea typeface="Helvetica Neue Light"/>
                <a:cs typeface="Helvetica Neue Light"/>
                <a:sym typeface="Helvetica Neue Light"/>
              </a:rPr>
              <a:t>[6] </a:t>
            </a:r>
            <a:r>
              <a:rPr lang="en-IN" sz="1600"/>
              <a:t>A. Nigam, “IIT Mandi Deep Learning Course,” YouTube playlist. [Online]. Available: https://youtube.com/playlist?list=PLKvX2d3IUq586Ic9gIhZj6ubpWV-OJfl4. [Accessed: Jul. 12, 2026].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</a:pPr>
            <a:r>
              <a:rPr lang="en-IN" sz="1600"/>
              <a:t>[7] K. Thakral, S. Mittal, U. Uppal, B. Giddwani, M. Vatsa, and R. Singh, “Self-Supervised Continual Learning,” submitted to Tiny Papers @ ICLR 2023, Mar. 2023, revised Jun. 2023. [Online]. Available: https://openreview.net/forum?id=udl9OobOxZu. [Accessed: Jul. 12, 2026].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</a:pPr>
            <a:endParaRPr sz="1600"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endParaRPr sz="1600"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</a:pPr>
            <a:endParaRPr sz="1600"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marL="80010" lvl="0" indent="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 sz="1600"/>
          </a:p>
          <a:p>
            <a:pPr marL="80010" lvl="0" indent="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 sz="1600"/>
          </a:p>
          <a:p>
            <a:pPr marL="80010" lvl="0" indent="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 sz="1600"/>
          </a:p>
          <a:p>
            <a:pPr marL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 sz="1600"/>
          </a:p>
          <a:p>
            <a:pPr marL="8001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 sz="1600"/>
          </a:p>
          <a:p>
            <a:pPr marL="8001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 sz="1600"/>
          </a:p>
          <a:p>
            <a:pPr marL="8001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 sz="1600"/>
          </a:p>
        </p:txBody>
      </p:sp>
      <p:sp>
        <p:nvSpPr>
          <p:cNvPr id="213" name="Google Shape;213;p17"/>
          <p:cNvSpPr txBox="1"/>
          <p:nvPr/>
        </p:nvSpPr>
        <p:spPr>
          <a:xfrm>
            <a:off x="287078" y="128828"/>
            <a:ext cx="10515600" cy="7728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Helvetica Neue"/>
              <a:buNone/>
            </a:pPr>
            <a:r>
              <a:rPr lang="en-IN" sz="4000" b="1" i="0" u="sng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References</a:t>
            </a:r>
            <a:endParaRPr sz="4000" b="1" i="0" u="sng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4" name="Google Shape;214;p17"/>
          <p:cNvSpPr txBox="1"/>
          <p:nvPr/>
        </p:nvSpPr>
        <p:spPr>
          <a:xfrm>
            <a:off x="10802678" y="6284675"/>
            <a:ext cx="551121" cy="377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|</a:t>
            </a:r>
            <a:r>
              <a:rPr lang="en-I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fld id="{00000000-1234-1234-1234-123412341234}" type="slidenum">
              <a:rPr lang="en-I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8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Font typeface="Helvetica Neue"/>
              <a:buNone/>
            </a:pPr>
            <a:r>
              <a:rPr lang="en-IN" sz="4800">
                <a:solidFill>
                  <a:schemeClr val="dk2"/>
                </a:solidFill>
              </a:rPr>
              <a:t>Thank you</a:t>
            </a:r>
            <a:endParaRPr sz="4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Ahmedabad University ">
      <a:dk1>
        <a:srgbClr val="000000"/>
      </a:dk1>
      <a:lt1>
        <a:srgbClr val="FFFFFF"/>
      </a:lt1>
      <a:dk2>
        <a:srgbClr val="7D1916"/>
      </a:dk2>
      <a:lt2>
        <a:srgbClr val="F2F1EE"/>
      </a:lt2>
      <a:accent1>
        <a:srgbClr val="894C00"/>
      </a:accent1>
      <a:accent2>
        <a:srgbClr val="7F4700"/>
      </a:accent2>
      <a:accent3>
        <a:srgbClr val="A5A5A5"/>
      </a:accent3>
      <a:accent4>
        <a:srgbClr val="BC933E"/>
      </a:accent4>
      <a:accent5>
        <a:srgbClr val="000000"/>
      </a:accent5>
      <a:accent6>
        <a:srgbClr val="FEFFFF"/>
      </a:accent6>
      <a:hlink>
        <a:srgbClr val="000000"/>
      </a:hlink>
      <a:folHlink>
        <a:srgbClr val="FE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1115</Words>
  <Application>Microsoft Office PowerPoint</Application>
  <PresentationFormat>Widescreen</PresentationFormat>
  <Paragraphs>90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Helvetica Neue</vt:lpstr>
      <vt:lpstr>Helvetica Neue Light</vt:lpstr>
      <vt:lpstr>Times New Roman</vt:lpstr>
      <vt:lpstr>Calibri</vt:lpstr>
      <vt:lpstr>Arial</vt:lpstr>
      <vt:lpstr>Office Theme</vt:lpstr>
      <vt:lpstr>PowerPoint Presentation</vt:lpstr>
      <vt:lpstr>Motivation for the Problem Statement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Microsoft Office User</dc:creator>
  <cp:lastModifiedBy>Dhvanit Mahesuriya</cp:lastModifiedBy>
  <cp:revision>1</cp:revision>
  <dcterms:created xsi:type="dcterms:W3CDTF">2019-05-10T05:56:50Z</dcterms:created>
  <dcterms:modified xsi:type="dcterms:W3CDTF">2026-10-10T09:16:23Z</dcterms:modified>
</cp:coreProperties>
</file>